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4111" r:id="rId4"/>
  </p:sldMasterIdLst>
  <p:notesMasterIdLst>
    <p:notesMasterId r:id="rId23"/>
  </p:notesMasterIdLst>
  <p:handoutMasterIdLst>
    <p:handoutMasterId r:id="rId24"/>
  </p:handoutMasterIdLst>
  <p:sldIdLst>
    <p:sldId id="257" r:id="rId5"/>
    <p:sldId id="272" r:id="rId6"/>
    <p:sldId id="279" r:id="rId7"/>
    <p:sldId id="298" r:id="rId8"/>
    <p:sldId id="281" r:id="rId9"/>
    <p:sldId id="284" r:id="rId10"/>
    <p:sldId id="294" r:id="rId11"/>
    <p:sldId id="282" r:id="rId12"/>
    <p:sldId id="285" r:id="rId13"/>
    <p:sldId id="295" r:id="rId14"/>
    <p:sldId id="256" r:id="rId15"/>
    <p:sldId id="302" r:id="rId16"/>
    <p:sldId id="283" r:id="rId17"/>
    <p:sldId id="303" r:id="rId18"/>
    <p:sldId id="305" r:id="rId19"/>
    <p:sldId id="273" r:id="rId20"/>
    <p:sldId id="306" r:id="rId21"/>
    <p:sldId id="304"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1496151-7F24-4506-8D0C-431727AAF7BD}">
          <p14:sldIdLst>
            <p14:sldId id="257"/>
            <p14:sldId id="272"/>
            <p14:sldId id="279"/>
            <p14:sldId id="298"/>
          </p14:sldIdLst>
        </p14:section>
        <p14:section name="State Wise" id="{635FCBE1-9853-4A3B-9F5F-7EA2BEF0B008}">
          <p14:sldIdLst>
            <p14:sldId id="281"/>
            <p14:sldId id="284"/>
            <p14:sldId id="294"/>
          </p14:sldIdLst>
        </p14:section>
        <p14:section name="Other Factors" id="{E7483DFB-BE77-4EE6-8CA1-0D84C7CBE072}">
          <p14:sldIdLst>
            <p14:sldId id="282"/>
            <p14:sldId id="285"/>
            <p14:sldId id="295"/>
            <p14:sldId id="256"/>
          </p14:sldIdLst>
        </p14:section>
        <p14:section name="Forecast_Model" id="{FC24BE74-678F-47C4-B0A4-F07E7DA84C42}">
          <p14:sldIdLst>
            <p14:sldId id="302"/>
            <p14:sldId id="283"/>
            <p14:sldId id="303"/>
            <p14:sldId id="305"/>
          </p14:sldIdLst>
        </p14:section>
        <p14:section name="Conclusion" id="{6E29AC8A-8B2F-472B-AB07-C64854AB40F5}">
          <p14:sldIdLst>
            <p14:sldId id="273"/>
            <p14:sldId id="306"/>
            <p14:sldId id="304"/>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ana Pratap Singh" initials="RPS" lastIdx="1" clrIdx="0">
    <p:extLst>
      <p:ext uri="{19B8F6BF-5375-455C-9EA6-DF929625EA0E}">
        <p15:presenceInfo xmlns:p15="http://schemas.microsoft.com/office/powerpoint/2012/main" userId="c697bc47c56ce12f" providerId="Windows Live"/>
      </p:ext>
    </p:extLst>
  </p:cmAuthor>
  <p:cmAuthor id="2" name="Jain, Sandeep" initials="JS" lastIdx="0" clrIdx="1">
    <p:extLst>
      <p:ext uri="{19B8F6BF-5375-455C-9EA6-DF929625EA0E}">
        <p15:presenceInfo xmlns:p15="http://schemas.microsoft.com/office/powerpoint/2012/main" userId="Jain, Sandeep"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4529"/>
    <a:srgbClr val="2B3922"/>
    <a:srgbClr val="2E3722"/>
    <a:srgbClr val="FCF7F1"/>
    <a:srgbClr val="B8D233"/>
    <a:srgbClr val="5CC6D6"/>
    <a:srgbClr val="F8D22F"/>
    <a:srgbClr val="F03F2B"/>
    <a:srgbClr val="3488A0"/>
    <a:srgbClr val="57903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276" autoAdjust="0"/>
    <p:restoredTop sz="94619" autoAdjust="0"/>
  </p:normalViewPr>
  <p:slideViewPr>
    <p:cSldViewPr snapToGrid="0">
      <p:cViewPr varScale="1">
        <p:scale>
          <a:sx n="86" d="100"/>
          <a:sy n="86" d="100"/>
        </p:scale>
        <p:origin x="547"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B66DD09-3F39-4A97-A198-FDE7988FB03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FAA5BA48-3C52-4B9F-85B9-9EAB699B366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EE3B60F-5C63-405A-A008-D222C5501283}" type="datetimeFigureOut">
              <a:rPr lang="en-IN" smtClean="0"/>
              <a:t>25-08-2021</a:t>
            </a:fld>
            <a:endParaRPr lang="en-IN"/>
          </a:p>
        </p:txBody>
      </p:sp>
      <p:sp>
        <p:nvSpPr>
          <p:cNvPr id="4" name="Footer Placeholder 3">
            <a:extLst>
              <a:ext uri="{FF2B5EF4-FFF2-40B4-BE49-F238E27FC236}">
                <a16:creationId xmlns:a16="http://schemas.microsoft.com/office/drawing/2014/main" id="{649E5739-1949-4318-8EFE-244E66F7ACF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C0823B97-5847-4185-9729-4D799A37016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980EC62-4ECE-44FD-9619-C83E238656F7}" type="slidenum">
              <a:rPr lang="en-IN" smtClean="0"/>
              <a:t>‹#›</a:t>
            </a:fld>
            <a:endParaRPr lang="en-IN"/>
          </a:p>
        </p:txBody>
      </p:sp>
    </p:spTree>
    <p:extLst>
      <p:ext uri="{BB962C8B-B14F-4D97-AF65-F5344CB8AC3E}">
        <p14:creationId xmlns:p14="http://schemas.microsoft.com/office/powerpoint/2010/main" val="3455449352"/>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608ED3-DB12-4071-A564-CFBF301A0990}" type="datetimeFigureOut">
              <a:rPr lang="en-IN" smtClean="0"/>
              <a:t>25-08-2021</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0F74DF8-5945-40A8-9038-4DF866AB1F74}" type="slidenum">
              <a:rPr lang="en-IN" smtClean="0"/>
              <a:t>‹#›</a:t>
            </a:fld>
            <a:endParaRPr lang="en-IN"/>
          </a:p>
        </p:txBody>
      </p:sp>
    </p:spTree>
    <p:extLst>
      <p:ext uri="{BB962C8B-B14F-4D97-AF65-F5344CB8AC3E}">
        <p14:creationId xmlns:p14="http://schemas.microsoft.com/office/powerpoint/2010/main" val="3103543059"/>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EFF339-6FFE-4F2D-8680-B31075446CC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CF7E51C-64A6-461E-9423-A8540EC907A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97B25BF-E86A-4F15-90F4-245FEA1BA8D3}"/>
              </a:ext>
            </a:extLst>
          </p:cNvPr>
          <p:cNvSpPr>
            <a:spLocks noGrp="1"/>
          </p:cNvSpPr>
          <p:nvPr>
            <p:ph type="dt" sz="half" idx="10"/>
          </p:nvPr>
        </p:nvSpPr>
        <p:spPr/>
        <p:txBody>
          <a:bodyPr/>
          <a:lstStyle/>
          <a:p>
            <a:fld id="{131D8B3E-1AA8-43A8-B42D-F04F34488C55}" type="datetime1">
              <a:rPr lang="en-US" smtClean="0"/>
              <a:t>8/25/2021</a:t>
            </a:fld>
            <a:endParaRPr lang="en-US" dirty="0"/>
          </a:p>
        </p:txBody>
      </p:sp>
      <p:sp>
        <p:nvSpPr>
          <p:cNvPr id="5" name="Footer Placeholder 4">
            <a:extLst>
              <a:ext uri="{FF2B5EF4-FFF2-40B4-BE49-F238E27FC236}">
                <a16:creationId xmlns:a16="http://schemas.microsoft.com/office/drawing/2014/main" id="{354F0BFA-8D0B-48D9-BB2E-5B5314AFFA20}"/>
              </a:ext>
            </a:extLst>
          </p:cNvPr>
          <p:cNvSpPr>
            <a:spLocks noGrp="1"/>
          </p:cNvSpPr>
          <p:nvPr>
            <p:ph type="ftr" sz="quarter" idx="11"/>
          </p:nvPr>
        </p:nvSpPr>
        <p:spPr/>
        <p:txBody>
          <a:bodyPr/>
          <a:lstStyle/>
          <a:p>
            <a:r>
              <a:rPr lang="en-US"/>
              <a:t>Confidential                                                                                                                                               ABC Manufacturing</a:t>
            </a:r>
            <a:endParaRPr lang="en-US" dirty="0"/>
          </a:p>
        </p:txBody>
      </p:sp>
      <p:sp>
        <p:nvSpPr>
          <p:cNvPr id="6" name="Slide Number Placeholder 5">
            <a:extLst>
              <a:ext uri="{FF2B5EF4-FFF2-40B4-BE49-F238E27FC236}">
                <a16:creationId xmlns:a16="http://schemas.microsoft.com/office/drawing/2014/main" id="{89AE3759-F10E-4E30-851C-3074D3A92167}"/>
              </a:ext>
            </a:extLst>
          </p:cNvPr>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39537335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0E8641-9555-428E-A345-1996124346F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541A013-0D8B-4CCF-9237-9645175509B3}"/>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8B3553-2468-4FC8-B3B8-C02ECFC878F5}"/>
              </a:ext>
            </a:extLst>
          </p:cNvPr>
          <p:cNvSpPr>
            <a:spLocks noGrp="1"/>
          </p:cNvSpPr>
          <p:nvPr>
            <p:ph type="dt" sz="half" idx="10"/>
          </p:nvPr>
        </p:nvSpPr>
        <p:spPr/>
        <p:txBody>
          <a:bodyPr/>
          <a:lstStyle/>
          <a:p>
            <a:fld id="{5390C5FD-FCE0-4528-A94A-087EE48E1FE2}" type="datetime1">
              <a:rPr lang="en-US" smtClean="0"/>
              <a:t>8/25/2021</a:t>
            </a:fld>
            <a:endParaRPr lang="en-US" dirty="0"/>
          </a:p>
        </p:txBody>
      </p:sp>
      <p:sp>
        <p:nvSpPr>
          <p:cNvPr id="5" name="Footer Placeholder 4">
            <a:extLst>
              <a:ext uri="{FF2B5EF4-FFF2-40B4-BE49-F238E27FC236}">
                <a16:creationId xmlns:a16="http://schemas.microsoft.com/office/drawing/2014/main" id="{28FBE1D0-C586-4143-B6F7-B1632410BEBB}"/>
              </a:ext>
            </a:extLst>
          </p:cNvPr>
          <p:cNvSpPr>
            <a:spLocks noGrp="1"/>
          </p:cNvSpPr>
          <p:nvPr>
            <p:ph type="ftr" sz="quarter" idx="11"/>
          </p:nvPr>
        </p:nvSpPr>
        <p:spPr/>
        <p:txBody>
          <a:bodyPr/>
          <a:lstStyle/>
          <a:p>
            <a:r>
              <a:rPr lang="en-US"/>
              <a:t>Confidential                                                                                                                                               ABC Manufacturing</a:t>
            </a:r>
            <a:endParaRPr lang="en-US" dirty="0"/>
          </a:p>
        </p:txBody>
      </p:sp>
      <p:sp>
        <p:nvSpPr>
          <p:cNvPr id="6" name="Slide Number Placeholder 5">
            <a:extLst>
              <a:ext uri="{FF2B5EF4-FFF2-40B4-BE49-F238E27FC236}">
                <a16:creationId xmlns:a16="http://schemas.microsoft.com/office/drawing/2014/main" id="{CAE57EBB-7A4D-483C-AE5F-5C8C1ECA6ECE}"/>
              </a:ext>
            </a:extLst>
          </p:cNvPr>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1492973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8F69E-BBBE-4350-8427-71593B45598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FF7EA01-B6A5-471B-BF46-C072FB640D2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137F859C-937E-488C-BFAB-993C41960409}"/>
              </a:ext>
            </a:extLst>
          </p:cNvPr>
          <p:cNvSpPr>
            <a:spLocks noGrp="1"/>
          </p:cNvSpPr>
          <p:nvPr>
            <p:ph type="dt" sz="half" idx="10"/>
          </p:nvPr>
        </p:nvSpPr>
        <p:spPr/>
        <p:txBody>
          <a:bodyPr/>
          <a:lstStyle/>
          <a:p>
            <a:fld id="{0BEE0CA0-2806-4AB8-910B-FE0432A837A2}" type="datetime1">
              <a:rPr lang="en-US" smtClean="0"/>
              <a:t>8/25/2021</a:t>
            </a:fld>
            <a:endParaRPr lang="en-US" dirty="0"/>
          </a:p>
        </p:txBody>
      </p:sp>
      <p:sp>
        <p:nvSpPr>
          <p:cNvPr id="5" name="Footer Placeholder 4">
            <a:extLst>
              <a:ext uri="{FF2B5EF4-FFF2-40B4-BE49-F238E27FC236}">
                <a16:creationId xmlns:a16="http://schemas.microsoft.com/office/drawing/2014/main" id="{B1F76332-9FB1-4C6F-97C1-3538E0653F74}"/>
              </a:ext>
            </a:extLst>
          </p:cNvPr>
          <p:cNvSpPr>
            <a:spLocks noGrp="1"/>
          </p:cNvSpPr>
          <p:nvPr>
            <p:ph type="ftr" sz="quarter" idx="11"/>
          </p:nvPr>
        </p:nvSpPr>
        <p:spPr/>
        <p:txBody>
          <a:bodyPr/>
          <a:lstStyle/>
          <a:p>
            <a:r>
              <a:rPr lang="en-US"/>
              <a:t>Confidential                                                                                                                                               ABC Manufacturing</a:t>
            </a:r>
            <a:endParaRPr lang="en-US" dirty="0"/>
          </a:p>
        </p:txBody>
      </p:sp>
      <p:sp>
        <p:nvSpPr>
          <p:cNvPr id="6" name="Slide Number Placeholder 5">
            <a:extLst>
              <a:ext uri="{FF2B5EF4-FFF2-40B4-BE49-F238E27FC236}">
                <a16:creationId xmlns:a16="http://schemas.microsoft.com/office/drawing/2014/main" id="{2117F032-6CC9-4D51-8DD7-E252C526B5E6}"/>
              </a:ext>
            </a:extLst>
          </p:cNvPr>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33325253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D6C9BF-3210-4FBE-912F-1D7675851CE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3F5216E-7774-4FDC-BA4C-2E5F1B1426F5}"/>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211CFEF-2883-469D-9D51-4195EE265C9E}"/>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401CD82-E402-493F-A358-97FF658E6688}"/>
              </a:ext>
            </a:extLst>
          </p:cNvPr>
          <p:cNvSpPr>
            <a:spLocks noGrp="1"/>
          </p:cNvSpPr>
          <p:nvPr>
            <p:ph type="dt" sz="half" idx="10"/>
          </p:nvPr>
        </p:nvSpPr>
        <p:spPr/>
        <p:txBody>
          <a:bodyPr/>
          <a:lstStyle/>
          <a:p>
            <a:fld id="{8DF2D993-7D40-4A41-A733-61E971EE0B6E}" type="datetime1">
              <a:rPr lang="en-US" smtClean="0"/>
              <a:t>8/25/2021</a:t>
            </a:fld>
            <a:endParaRPr lang="en-US" dirty="0"/>
          </a:p>
        </p:txBody>
      </p:sp>
      <p:sp>
        <p:nvSpPr>
          <p:cNvPr id="6" name="Footer Placeholder 5">
            <a:extLst>
              <a:ext uri="{FF2B5EF4-FFF2-40B4-BE49-F238E27FC236}">
                <a16:creationId xmlns:a16="http://schemas.microsoft.com/office/drawing/2014/main" id="{B7E9C0ED-9E3D-401B-A16D-5661F797CA8C}"/>
              </a:ext>
            </a:extLst>
          </p:cNvPr>
          <p:cNvSpPr>
            <a:spLocks noGrp="1"/>
          </p:cNvSpPr>
          <p:nvPr>
            <p:ph type="ftr" sz="quarter" idx="11"/>
          </p:nvPr>
        </p:nvSpPr>
        <p:spPr/>
        <p:txBody>
          <a:bodyPr/>
          <a:lstStyle/>
          <a:p>
            <a:r>
              <a:rPr lang="en-US"/>
              <a:t>Confidential                                                                                                                                               ABC Manufacturing</a:t>
            </a:r>
            <a:endParaRPr lang="en-US" dirty="0"/>
          </a:p>
        </p:txBody>
      </p:sp>
      <p:sp>
        <p:nvSpPr>
          <p:cNvPr id="7" name="Slide Number Placeholder 6">
            <a:extLst>
              <a:ext uri="{FF2B5EF4-FFF2-40B4-BE49-F238E27FC236}">
                <a16:creationId xmlns:a16="http://schemas.microsoft.com/office/drawing/2014/main" id="{4611236D-84F2-476D-91DD-4AE965ACA3E2}"/>
              </a:ext>
            </a:extLst>
          </p:cNvPr>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7211185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5F5BBE-5792-4054-9520-51D4E16107A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3188EF5-493E-45A3-A509-C496C0B15FE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2681C103-A32C-4C14-9224-8FBC539DBBF6}"/>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FCAEEE8-960E-41B2-9671-D4342A4B1C1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BE7A5002-2206-4932-9D61-503DC17CD101}"/>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341ED29-7C50-4A69-A415-FE5B02994B9B}"/>
              </a:ext>
            </a:extLst>
          </p:cNvPr>
          <p:cNvSpPr>
            <a:spLocks noGrp="1"/>
          </p:cNvSpPr>
          <p:nvPr>
            <p:ph type="dt" sz="half" idx="10"/>
          </p:nvPr>
        </p:nvSpPr>
        <p:spPr/>
        <p:txBody>
          <a:bodyPr/>
          <a:lstStyle/>
          <a:p>
            <a:fld id="{6BC8F254-9167-4A41-A499-97819116AA5D}" type="datetime1">
              <a:rPr lang="en-US" smtClean="0"/>
              <a:t>8/25/2021</a:t>
            </a:fld>
            <a:endParaRPr lang="en-US" dirty="0"/>
          </a:p>
        </p:txBody>
      </p:sp>
      <p:sp>
        <p:nvSpPr>
          <p:cNvPr id="8" name="Footer Placeholder 7">
            <a:extLst>
              <a:ext uri="{FF2B5EF4-FFF2-40B4-BE49-F238E27FC236}">
                <a16:creationId xmlns:a16="http://schemas.microsoft.com/office/drawing/2014/main" id="{C89175FF-F24F-47DB-8FDD-41114F5F60B6}"/>
              </a:ext>
            </a:extLst>
          </p:cNvPr>
          <p:cNvSpPr>
            <a:spLocks noGrp="1"/>
          </p:cNvSpPr>
          <p:nvPr>
            <p:ph type="ftr" sz="quarter" idx="11"/>
          </p:nvPr>
        </p:nvSpPr>
        <p:spPr/>
        <p:txBody>
          <a:bodyPr/>
          <a:lstStyle/>
          <a:p>
            <a:r>
              <a:rPr lang="en-US"/>
              <a:t>Confidential                                                                                                                                               ABC Manufacturing</a:t>
            </a:r>
            <a:endParaRPr lang="en-US" dirty="0"/>
          </a:p>
        </p:txBody>
      </p:sp>
      <p:sp>
        <p:nvSpPr>
          <p:cNvPr id="9" name="Slide Number Placeholder 8">
            <a:extLst>
              <a:ext uri="{FF2B5EF4-FFF2-40B4-BE49-F238E27FC236}">
                <a16:creationId xmlns:a16="http://schemas.microsoft.com/office/drawing/2014/main" id="{7D3D6002-F18D-40ED-8C6E-341CEBFCD149}"/>
              </a:ext>
            </a:extLst>
          </p:cNvPr>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6549628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85A80-A554-4476-BF03-8AF2EE82629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9A3035D-7FCD-4E86-85A7-5327295BE0B7}"/>
              </a:ext>
            </a:extLst>
          </p:cNvPr>
          <p:cNvSpPr>
            <a:spLocks noGrp="1"/>
          </p:cNvSpPr>
          <p:nvPr>
            <p:ph type="dt" sz="half" idx="10"/>
          </p:nvPr>
        </p:nvSpPr>
        <p:spPr/>
        <p:txBody>
          <a:bodyPr/>
          <a:lstStyle/>
          <a:p>
            <a:fld id="{DC8B71BC-9CCF-462D-87AC-82292E5814A5}" type="datetime1">
              <a:rPr lang="en-US" smtClean="0"/>
              <a:t>8/25/2021</a:t>
            </a:fld>
            <a:endParaRPr lang="en-US" dirty="0"/>
          </a:p>
        </p:txBody>
      </p:sp>
      <p:sp>
        <p:nvSpPr>
          <p:cNvPr id="4" name="Footer Placeholder 3">
            <a:extLst>
              <a:ext uri="{FF2B5EF4-FFF2-40B4-BE49-F238E27FC236}">
                <a16:creationId xmlns:a16="http://schemas.microsoft.com/office/drawing/2014/main" id="{9160879B-1946-40B3-9873-0A836CD71921}"/>
              </a:ext>
            </a:extLst>
          </p:cNvPr>
          <p:cNvSpPr>
            <a:spLocks noGrp="1"/>
          </p:cNvSpPr>
          <p:nvPr>
            <p:ph type="ftr" sz="quarter" idx="11"/>
          </p:nvPr>
        </p:nvSpPr>
        <p:spPr/>
        <p:txBody>
          <a:bodyPr/>
          <a:lstStyle/>
          <a:p>
            <a:r>
              <a:rPr lang="en-US"/>
              <a:t>Confidential                                                                                                                                               ABC Manufacturing</a:t>
            </a:r>
            <a:endParaRPr lang="en-US" dirty="0"/>
          </a:p>
        </p:txBody>
      </p:sp>
      <p:sp>
        <p:nvSpPr>
          <p:cNvPr id="5" name="Slide Number Placeholder 4">
            <a:extLst>
              <a:ext uri="{FF2B5EF4-FFF2-40B4-BE49-F238E27FC236}">
                <a16:creationId xmlns:a16="http://schemas.microsoft.com/office/drawing/2014/main" id="{70FFF7FB-15E0-4B53-8620-5C8AF4D701E3}"/>
              </a:ext>
            </a:extLst>
          </p:cNvPr>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13036556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D5E339A-2687-4D75-A5FF-2C0BD6D76D13}"/>
              </a:ext>
            </a:extLst>
          </p:cNvPr>
          <p:cNvSpPr>
            <a:spLocks noGrp="1"/>
          </p:cNvSpPr>
          <p:nvPr>
            <p:ph type="dt" sz="half" idx="10"/>
          </p:nvPr>
        </p:nvSpPr>
        <p:spPr/>
        <p:txBody>
          <a:bodyPr/>
          <a:lstStyle/>
          <a:p>
            <a:fld id="{A9EAC3B1-1254-43F3-8DF8-4F0B0D864283}" type="datetime1">
              <a:rPr lang="en-US" smtClean="0"/>
              <a:t>8/25/2021</a:t>
            </a:fld>
            <a:endParaRPr lang="en-US" dirty="0"/>
          </a:p>
        </p:txBody>
      </p:sp>
      <p:sp>
        <p:nvSpPr>
          <p:cNvPr id="3" name="Footer Placeholder 2">
            <a:extLst>
              <a:ext uri="{FF2B5EF4-FFF2-40B4-BE49-F238E27FC236}">
                <a16:creationId xmlns:a16="http://schemas.microsoft.com/office/drawing/2014/main" id="{85929B58-F0E4-4E1F-B396-421E2FBED564}"/>
              </a:ext>
            </a:extLst>
          </p:cNvPr>
          <p:cNvSpPr>
            <a:spLocks noGrp="1"/>
          </p:cNvSpPr>
          <p:nvPr>
            <p:ph type="ftr" sz="quarter" idx="11"/>
          </p:nvPr>
        </p:nvSpPr>
        <p:spPr/>
        <p:txBody>
          <a:bodyPr/>
          <a:lstStyle/>
          <a:p>
            <a:r>
              <a:rPr lang="en-US"/>
              <a:t>Confidential                                                                                                                                               ABC Manufacturing</a:t>
            </a:r>
            <a:endParaRPr lang="en-US" dirty="0"/>
          </a:p>
        </p:txBody>
      </p:sp>
      <p:sp>
        <p:nvSpPr>
          <p:cNvPr id="4" name="Slide Number Placeholder 3">
            <a:extLst>
              <a:ext uri="{FF2B5EF4-FFF2-40B4-BE49-F238E27FC236}">
                <a16:creationId xmlns:a16="http://schemas.microsoft.com/office/drawing/2014/main" id="{EF02F580-26EF-43B2-8CB3-99C8DF9BE12F}"/>
              </a:ext>
            </a:extLst>
          </p:cNvPr>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3827055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F1765B-C376-49CB-B418-7D5E609CCC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435B6F2-BE2C-4765-8DCE-351AB184BF3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C3E538F-6B74-4398-9748-49199ECEBF7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CD3CF16-170D-4E9E-88C4-0FAD16FD1172}"/>
              </a:ext>
            </a:extLst>
          </p:cNvPr>
          <p:cNvSpPr>
            <a:spLocks noGrp="1"/>
          </p:cNvSpPr>
          <p:nvPr>
            <p:ph type="dt" sz="half" idx="10"/>
          </p:nvPr>
        </p:nvSpPr>
        <p:spPr/>
        <p:txBody>
          <a:bodyPr/>
          <a:lstStyle/>
          <a:p>
            <a:fld id="{9C5DC80C-9050-4087-B27E-B9AC94EE17F1}" type="datetime1">
              <a:rPr lang="en-US" smtClean="0"/>
              <a:t>8/25/2021</a:t>
            </a:fld>
            <a:endParaRPr lang="en-US" dirty="0"/>
          </a:p>
        </p:txBody>
      </p:sp>
      <p:sp>
        <p:nvSpPr>
          <p:cNvPr id="6" name="Footer Placeholder 5">
            <a:extLst>
              <a:ext uri="{FF2B5EF4-FFF2-40B4-BE49-F238E27FC236}">
                <a16:creationId xmlns:a16="http://schemas.microsoft.com/office/drawing/2014/main" id="{0AC6A7C1-3283-485D-82AC-73F90856EF8A}"/>
              </a:ext>
            </a:extLst>
          </p:cNvPr>
          <p:cNvSpPr>
            <a:spLocks noGrp="1"/>
          </p:cNvSpPr>
          <p:nvPr>
            <p:ph type="ftr" sz="quarter" idx="11"/>
          </p:nvPr>
        </p:nvSpPr>
        <p:spPr/>
        <p:txBody>
          <a:bodyPr/>
          <a:lstStyle/>
          <a:p>
            <a:r>
              <a:rPr lang="en-US"/>
              <a:t>Confidential                                                                                                                                               ABC Manufacturing</a:t>
            </a:r>
            <a:endParaRPr lang="en-US" dirty="0"/>
          </a:p>
        </p:txBody>
      </p:sp>
      <p:sp>
        <p:nvSpPr>
          <p:cNvPr id="7" name="Slide Number Placeholder 6">
            <a:extLst>
              <a:ext uri="{FF2B5EF4-FFF2-40B4-BE49-F238E27FC236}">
                <a16:creationId xmlns:a16="http://schemas.microsoft.com/office/drawing/2014/main" id="{C8D8E197-CA54-432F-942A-1DDA30A76C63}"/>
              </a:ext>
            </a:extLst>
          </p:cNvPr>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7655081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7968A7-25AE-4B16-97F8-F7AB464DE64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008977C-A423-4C63-83C6-31A2C2739A8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937F98D-4D91-467A-AB20-A65C863011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40D49A8-955B-497F-8276-3F71DF16DD80}"/>
              </a:ext>
            </a:extLst>
          </p:cNvPr>
          <p:cNvSpPr>
            <a:spLocks noGrp="1"/>
          </p:cNvSpPr>
          <p:nvPr>
            <p:ph type="dt" sz="half" idx="10"/>
          </p:nvPr>
        </p:nvSpPr>
        <p:spPr/>
        <p:txBody>
          <a:bodyPr/>
          <a:lstStyle/>
          <a:p>
            <a:fld id="{FE12E024-6298-41F8-B8E7-8079BD72ADD7}" type="datetime1">
              <a:rPr lang="en-US" smtClean="0"/>
              <a:t>8/25/2021</a:t>
            </a:fld>
            <a:endParaRPr lang="en-US" dirty="0"/>
          </a:p>
        </p:txBody>
      </p:sp>
      <p:sp>
        <p:nvSpPr>
          <p:cNvPr id="6" name="Footer Placeholder 5">
            <a:extLst>
              <a:ext uri="{FF2B5EF4-FFF2-40B4-BE49-F238E27FC236}">
                <a16:creationId xmlns:a16="http://schemas.microsoft.com/office/drawing/2014/main" id="{37D5E6EA-8423-4845-9E91-9C28EE94CB8D}"/>
              </a:ext>
            </a:extLst>
          </p:cNvPr>
          <p:cNvSpPr>
            <a:spLocks noGrp="1"/>
          </p:cNvSpPr>
          <p:nvPr>
            <p:ph type="ftr" sz="quarter" idx="11"/>
          </p:nvPr>
        </p:nvSpPr>
        <p:spPr/>
        <p:txBody>
          <a:bodyPr/>
          <a:lstStyle/>
          <a:p>
            <a:pPr algn="l"/>
            <a:r>
              <a:rPr lang="en-US"/>
              <a:t>Confidential                                                                                                                                               ABC Manufacturing</a:t>
            </a:r>
            <a:endParaRPr lang="en-US" dirty="0"/>
          </a:p>
        </p:txBody>
      </p:sp>
      <p:sp>
        <p:nvSpPr>
          <p:cNvPr id="7" name="Slide Number Placeholder 6">
            <a:extLst>
              <a:ext uri="{FF2B5EF4-FFF2-40B4-BE49-F238E27FC236}">
                <a16:creationId xmlns:a16="http://schemas.microsoft.com/office/drawing/2014/main" id="{94A4F7E4-CBEF-4F6D-BB6B-351A8075F95A}"/>
              </a:ext>
            </a:extLst>
          </p:cNvPr>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17460886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65CBF3-336B-4C0E-8F75-C1C8164BB83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0D4CE9C-6F73-4C21-8ACB-BF64CFE1A72C}"/>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5ED362B-4AB5-47D9-AC1E-B66D357B1CDF}"/>
              </a:ext>
            </a:extLst>
          </p:cNvPr>
          <p:cNvSpPr>
            <a:spLocks noGrp="1"/>
          </p:cNvSpPr>
          <p:nvPr>
            <p:ph type="dt" sz="half" idx="10"/>
          </p:nvPr>
        </p:nvSpPr>
        <p:spPr/>
        <p:txBody>
          <a:bodyPr/>
          <a:lstStyle/>
          <a:p>
            <a:fld id="{8FBEE06A-B3F4-49BC-8ACC-F541776E0877}" type="datetime1">
              <a:rPr lang="en-US" smtClean="0"/>
              <a:t>8/25/2021</a:t>
            </a:fld>
            <a:endParaRPr lang="en-US" dirty="0"/>
          </a:p>
        </p:txBody>
      </p:sp>
      <p:sp>
        <p:nvSpPr>
          <p:cNvPr id="5" name="Footer Placeholder 4">
            <a:extLst>
              <a:ext uri="{FF2B5EF4-FFF2-40B4-BE49-F238E27FC236}">
                <a16:creationId xmlns:a16="http://schemas.microsoft.com/office/drawing/2014/main" id="{BB6268A1-DFB0-4457-8E47-8F8112D79545}"/>
              </a:ext>
            </a:extLst>
          </p:cNvPr>
          <p:cNvSpPr>
            <a:spLocks noGrp="1"/>
          </p:cNvSpPr>
          <p:nvPr>
            <p:ph type="ftr" sz="quarter" idx="11"/>
          </p:nvPr>
        </p:nvSpPr>
        <p:spPr/>
        <p:txBody>
          <a:bodyPr/>
          <a:lstStyle/>
          <a:p>
            <a:r>
              <a:rPr lang="en-US"/>
              <a:t>Confidential                                                                                                                                               ABC Manufacturing</a:t>
            </a:r>
            <a:endParaRPr lang="en-US" dirty="0"/>
          </a:p>
        </p:txBody>
      </p:sp>
      <p:sp>
        <p:nvSpPr>
          <p:cNvPr id="6" name="Slide Number Placeholder 5">
            <a:extLst>
              <a:ext uri="{FF2B5EF4-FFF2-40B4-BE49-F238E27FC236}">
                <a16:creationId xmlns:a16="http://schemas.microsoft.com/office/drawing/2014/main" id="{C4EAAE0F-6188-47D2-A1D7-6B571B5735BC}"/>
              </a:ext>
            </a:extLst>
          </p:cNvPr>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28698377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0AA69E0-7285-46E1-BAE3-5616F1735F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451B8B5-341D-46E6-B759-DB37B6B8CF27}"/>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3CE171F-BC37-41A3-8AA9-D8B6E1AD2077}"/>
              </a:ext>
            </a:extLst>
          </p:cNvPr>
          <p:cNvSpPr>
            <a:spLocks noGrp="1"/>
          </p:cNvSpPr>
          <p:nvPr>
            <p:ph type="dt" sz="half" idx="10"/>
          </p:nvPr>
        </p:nvSpPr>
        <p:spPr/>
        <p:txBody>
          <a:bodyPr/>
          <a:lstStyle/>
          <a:p>
            <a:fld id="{6884B5CC-8201-43FA-B437-B234DE144612}" type="datetime1">
              <a:rPr lang="en-US" smtClean="0"/>
              <a:t>8/25/2021</a:t>
            </a:fld>
            <a:endParaRPr lang="en-US" dirty="0"/>
          </a:p>
        </p:txBody>
      </p:sp>
      <p:sp>
        <p:nvSpPr>
          <p:cNvPr id="5" name="Footer Placeholder 4">
            <a:extLst>
              <a:ext uri="{FF2B5EF4-FFF2-40B4-BE49-F238E27FC236}">
                <a16:creationId xmlns:a16="http://schemas.microsoft.com/office/drawing/2014/main" id="{6F1A5999-B45C-4893-983D-461BDF7A9342}"/>
              </a:ext>
            </a:extLst>
          </p:cNvPr>
          <p:cNvSpPr>
            <a:spLocks noGrp="1"/>
          </p:cNvSpPr>
          <p:nvPr>
            <p:ph type="ftr" sz="quarter" idx="11"/>
          </p:nvPr>
        </p:nvSpPr>
        <p:spPr/>
        <p:txBody>
          <a:bodyPr/>
          <a:lstStyle/>
          <a:p>
            <a:r>
              <a:rPr lang="en-US"/>
              <a:t>Confidential                                                                                                                                               ABC Manufacturing</a:t>
            </a:r>
            <a:endParaRPr lang="en-US" dirty="0"/>
          </a:p>
        </p:txBody>
      </p:sp>
      <p:sp>
        <p:nvSpPr>
          <p:cNvPr id="6" name="Slide Number Placeholder 5">
            <a:extLst>
              <a:ext uri="{FF2B5EF4-FFF2-40B4-BE49-F238E27FC236}">
                <a16:creationId xmlns:a16="http://schemas.microsoft.com/office/drawing/2014/main" id="{0A38D742-2AD6-423B-A4BF-8F01C9918FC8}"/>
              </a:ext>
            </a:extLst>
          </p:cNvPr>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39402910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A57659D-DF36-4114-AECE-0CC8FBD32C4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BB025E6-DA1F-4549-A134-74FA5AAF55E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8CE9CF-54C1-4DDE-AB2E-7B5F201C477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C70BA9E-BFE8-467A-95FD-8A5D4BCCCB0B}" type="datetime1">
              <a:rPr lang="en-US" smtClean="0"/>
              <a:t>8/25/2021</a:t>
            </a:fld>
            <a:endParaRPr lang="en-US" dirty="0"/>
          </a:p>
        </p:txBody>
      </p:sp>
      <p:sp>
        <p:nvSpPr>
          <p:cNvPr id="5" name="Footer Placeholder 4">
            <a:extLst>
              <a:ext uri="{FF2B5EF4-FFF2-40B4-BE49-F238E27FC236}">
                <a16:creationId xmlns:a16="http://schemas.microsoft.com/office/drawing/2014/main" id="{DC5D63BA-61DF-4084-9BFB-87D7FFA9BDE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Confidential                                                                                                                                               ABC Manufacturing</a:t>
            </a:r>
            <a:endParaRPr lang="en-US" dirty="0"/>
          </a:p>
        </p:txBody>
      </p:sp>
      <p:sp>
        <p:nvSpPr>
          <p:cNvPr id="6" name="Slide Number Placeholder 5">
            <a:extLst>
              <a:ext uri="{FF2B5EF4-FFF2-40B4-BE49-F238E27FC236}">
                <a16:creationId xmlns:a16="http://schemas.microsoft.com/office/drawing/2014/main" id="{6A62BCFD-A9BC-4404-BF23-9C5068FB344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2705575744"/>
      </p:ext>
    </p:extLst>
  </p:cSld>
  <p:clrMap bg1="lt1" tx1="dk1" bg2="lt2" tx2="dk2" accent1="accent1" accent2="accent2" accent3="accent3" accent4="accent4" accent5="accent5" accent6="accent6" hlink="hlink" folHlink="folHlink"/>
  <p:sldLayoutIdLst>
    <p:sldLayoutId id="2147484112" r:id="rId1"/>
    <p:sldLayoutId id="2147484113" r:id="rId2"/>
    <p:sldLayoutId id="2147484114" r:id="rId3"/>
    <p:sldLayoutId id="2147484115" r:id="rId4"/>
    <p:sldLayoutId id="2147484116" r:id="rId5"/>
    <p:sldLayoutId id="2147484117" r:id="rId6"/>
    <p:sldLayoutId id="2147484118" r:id="rId7"/>
    <p:sldLayoutId id="2147484119" r:id="rId8"/>
    <p:sldLayoutId id="2147484120" r:id="rId9"/>
    <p:sldLayoutId id="2147484121" r:id="rId10"/>
    <p:sldLayoutId id="2147484122"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slide" Target="slide9.xml"/><Relationship Id="rId13" Type="http://schemas.openxmlformats.org/officeDocument/2006/relationships/slide" Target="slide15.xml"/><Relationship Id="rId3" Type="http://schemas.openxmlformats.org/officeDocument/2006/relationships/slide" Target="slide4.xml"/><Relationship Id="rId7" Type="http://schemas.openxmlformats.org/officeDocument/2006/relationships/slide" Target="slide8.xml"/><Relationship Id="rId12" Type="http://schemas.openxmlformats.org/officeDocument/2006/relationships/slide" Target="slide13.xml"/><Relationship Id="rId2" Type="http://schemas.openxmlformats.org/officeDocument/2006/relationships/slide" Target="slide3.xml"/><Relationship Id="rId16" Type="http://schemas.openxmlformats.org/officeDocument/2006/relationships/slide" Target="slide18.xml"/><Relationship Id="rId1" Type="http://schemas.openxmlformats.org/officeDocument/2006/relationships/slideLayout" Target="../slideLayouts/slideLayout2.xml"/><Relationship Id="rId6" Type="http://schemas.openxmlformats.org/officeDocument/2006/relationships/slide" Target="slide7.xml"/><Relationship Id="rId11" Type="http://schemas.openxmlformats.org/officeDocument/2006/relationships/slide" Target="slide12.xml"/><Relationship Id="rId5" Type="http://schemas.openxmlformats.org/officeDocument/2006/relationships/slide" Target="slide6.xml"/><Relationship Id="rId15" Type="http://schemas.openxmlformats.org/officeDocument/2006/relationships/slide" Target="slide17.xml"/><Relationship Id="rId10" Type="http://schemas.openxmlformats.org/officeDocument/2006/relationships/slide" Target="slide11.xml"/><Relationship Id="rId4" Type="http://schemas.openxmlformats.org/officeDocument/2006/relationships/slide" Target="slide5.xml"/><Relationship Id="rId9" Type="http://schemas.openxmlformats.org/officeDocument/2006/relationships/slide" Target="slide10.xml"/><Relationship Id="rId14" Type="http://schemas.openxmlformats.org/officeDocument/2006/relationships/slide" Target="slide1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hyperlink" Target="https://censusindia.gov.in/"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7.JPG"/><Relationship Id="rId1" Type="http://schemas.openxmlformats.org/officeDocument/2006/relationships/slideLayout" Target="../slideLayouts/slideLayout2.xml"/><Relationship Id="rId4" Type="http://schemas.openxmlformats.org/officeDocument/2006/relationships/image" Target="../media/image19.JPG"/></Relationships>
</file>

<file path=ppt/slides/_rels/slide1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pct50">
          <a:fgClr>
            <a:schemeClr val="accen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3B467-088C-4F3D-A9A7-105C4E1E20CD}"/>
              </a:ext>
            </a:extLst>
          </p:cNvPr>
          <p:cNvSpPr>
            <a:spLocks noGrp="1"/>
          </p:cNvSpPr>
          <p:nvPr>
            <p:ph type="ctrTitle"/>
          </p:nvPr>
        </p:nvSpPr>
        <p:spPr>
          <a:xfrm>
            <a:off x="1935804" y="1138137"/>
            <a:ext cx="8219873" cy="2371573"/>
          </a:xfrm>
        </p:spPr>
        <p:txBody>
          <a:bodyPr>
            <a:normAutofit/>
          </a:bodyPr>
          <a:lstStyle/>
          <a:p>
            <a:r>
              <a:rPr lang="en-US" sz="4400" dirty="0">
                <a:latin typeface="Algerian" panose="04020705040A02060702" pitchFamily="82" charset="0"/>
              </a:rPr>
              <a:t>Sales Forecast Analytics of ABC Manufacturing for 2018-2019</a:t>
            </a:r>
          </a:p>
        </p:txBody>
      </p:sp>
      <p:sp>
        <p:nvSpPr>
          <p:cNvPr id="3" name="Subtitle 2">
            <a:extLst>
              <a:ext uri="{FF2B5EF4-FFF2-40B4-BE49-F238E27FC236}">
                <a16:creationId xmlns:a16="http://schemas.microsoft.com/office/drawing/2014/main" id="{C8722DDC-8EEE-4A06-8DFE-B44871EAA2CF}"/>
              </a:ext>
            </a:extLst>
          </p:cNvPr>
          <p:cNvSpPr>
            <a:spLocks noGrp="1"/>
          </p:cNvSpPr>
          <p:nvPr>
            <p:ph type="subTitle" idx="1"/>
          </p:nvPr>
        </p:nvSpPr>
        <p:spPr>
          <a:xfrm>
            <a:off x="0" y="182746"/>
            <a:ext cx="7947498" cy="527373"/>
          </a:xfrm>
        </p:spPr>
        <p:txBody>
          <a:bodyPr>
            <a:normAutofit/>
          </a:bodyPr>
          <a:lstStyle/>
          <a:p>
            <a:pPr algn="l">
              <a:spcAft>
                <a:spcPts val="600"/>
              </a:spcAft>
            </a:pPr>
            <a:r>
              <a:rPr lang="en-US" dirty="0"/>
              <a:t>KPMG Capstone Project Bangalore Group C  - May 2021</a:t>
            </a:r>
          </a:p>
          <a:p>
            <a:pPr algn="l">
              <a:spcAft>
                <a:spcPts val="600"/>
              </a:spcAft>
            </a:pPr>
            <a:endParaRPr lang="en-US" dirty="0"/>
          </a:p>
        </p:txBody>
      </p:sp>
      <p:sp>
        <p:nvSpPr>
          <p:cNvPr id="12" name="Rectangle 11">
            <a:extLst>
              <a:ext uri="{FF2B5EF4-FFF2-40B4-BE49-F238E27FC236}">
                <a16:creationId xmlns:a16="http://schemas.microsoft.com/office/drawing/2014/main" id="{4F040B28-762A-4927-B126-DAC728B4A91B}"/>
              </a:ext>
            </a:extLst>
          </p:cNvPr>
          <p:cNvSpPr/>
          <p:nvPr/>
        </p:nvSpPr>
        <p:spPr>
          <a:xfrm>
            <a:off x="9182911" y="5029199"/>
            <a:ext cx="3009089" cy="2031325"/>
          </a:xfrm>
          <a:prstGeom prst="rect">
            <a:avLst/>
          </a:prstGeom>
        </p:spPr>
        <p:txBody>
          <a:bodyPr wrap="square">
            <a:spAutoFit/>
          </a:bodyPr>
          <a:lstStyle/>
          <a:p>
            <a:r>
              <a:rPr lang="en-US" dirty="0"/>
              <a:t>Presented By:</a:t>
            </a:r>
          </a:p>
          <a:p>
            <a:r>
              <a:rPr lang="en-US" dirty="0"/>
              <a:t>	Rana Pratap</a:t>
            </a:r>
          </a:p>
          <a:p>
            <a:r>
              <a:rPr lang="en-US" dirty="0"/>
              <a:t>	Rodrick</a:t>
            </a:r>
          </a:p>
          <a:p>
            <a:r>
              <a:rPr lang="en-US" dirty="0"/>
              <a:t>	Sowjanya Maradana</a:t>
            </a:r>
          </a:p>
          <a:p>
            <a:r>
              <a:rPr lang="en-US" dirty="0"/>
              <a:t>	Pushpa Lata</a:t>
            </a:r>
          </a:p>
          <a:p>
            <a:r>
              <a:rPr lang="en-US" dirty="0"/>
              <a:t>	Sandeep Jain</a:t>
            </a:r>
          </a:p>
          <a:p>
            <a:endParaRPr lang="en-US" dirty="0"/>
          </a:p>
        </p:txBody>
      </p:sp>
    </p:spTree>
    <p:extLst>
      <p:ext uri="{BB962C8B-B14F-4D97-AF65-F5344CB8AC3E}">
        <p14:creationId xmlns:p14="http://schemas.microsoft.com/office/powerpoint/2010/main" val="25842807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FCDB9CC1-99E1-4C60-BE85-D8CD197DA7F7}"/>
              </a:ext>
            </a:extLst>
          </p:cNvPr>
          <p:cNvSpPr>
            <a:spLocks noGrp="1"/>
          </p:cNvSpPr>
          <p:nvPr>
            <p:ph type="sldNum" sz="quarter" idx="12"/>
          </p:nvPr>
        </p:nvSpPr>
        <p:spPr/>
        <p:txBody>
          <a:bodyPr/>
          <a:lstStyle/>
          <a:p>
            <a:fld id="{34B7E4EF-A1BD-40F4-AB7B-04F084DD991D}" type="slidenum">
              <a:rPr lang="en-US" smtClean="0"/>
              <a:t>2</a:t>
            </a:fld>
            <a:endParaRPr lang="en-US" dirty="0"/>
          </a:p>
        </p:txBody>
      </p:sp>
      <p:sp>
        <p:nvSpPr>
          <p:cNvPr id="7" name="Title 1">
            <a:extLst>
              <a:ext uri="{FF2B5EF4-FFF2-40B4-BE49-F238E27FC236}">
                <a16:creationId xmlns:a16="http://schemas.microsoft.com/office/drawing/2014/main" id="{619732B7-498C-40CF-8149-F79151D70779}"/>
              </a:ext>
            </a:extLst>
          </p:cNvPr>
          <p:cNvSpPr txBox="1">
            <a:spLocks/>
          </p:cNvSpPr>
          <p:nvPr/>
        </p:nvSpPr>
        <p:spPr>
          <a:xfrm>
            <a:off x="0" y="0"/>
            <a:ext cx="12111787" cy="8794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3200" dirty="0"/>
              <a:t>Table of Contents -:  </a:t>
            </a:r>
          </a:p>
        </p:txBody>
      </p:sp>
      <p:sp>
        <p:nvSpPr>
          <p:cNvPr id="8" name="Content Placeholder 2">
            <a:extLst>
              <a:ext uri="{FF2B5EF4-FFF2-40B4-BE49-F238E27FC236}">
                <a16:creationId xmlns:a16="http://schemas.microsoft.com/office/drawing/2014/main" id="{50E0F664-887F-40BF-BD70-7613F5D7D774}"/>
              </a:ext>
            </a:extLst>
          </p:cNvPr>
          <p:cNvSpPr txBox="1">
            <a:spLocks/>
          </p:cNvSpPr>
          <p:nvPr/>
        </p:nvSpPr>
        <p:spPr>
          <a:xfrm>
            <a:off x="717331" y="905165"/>
            <a:ext cx="8915400" cy="5451186"/>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00000"/>
              </a:lnSpc>
              <a:spcBef>
                <a:spcPts val="1000"/>
              </a:spcBef>
              <a:buClr>
                <a:schemeClr val="accent1"/>
              </a:buClr>
              <a:buFont typeface="Wingdings" panose="05000000000000000000" pitchFamily="2" charset="2"/>
              <a:buChar char="Ø"/>
              <a:tabLst>
                <a:tab pos="4395788" algn="l"/>
              </a:tabLst>
            </a:pPr>
            <a:endParaRPr lang="en-US" sz="1700" dirty="0"/>
          </a:p>
          <a:p>
            <a:pPr lvl="1">
              <a:lnSpc>
                <a:spcPct val="100000"/>
              </a:lnSpc>
              <a:spcBef>
                <a:spcPts val="1000"/>
              </a:spcBef>
              <a:buClr>
                <a:schemeClr val="accent1"/>
              </a:buClr>
              <a:buFont typeface="Wingdings" panose="05000000000000000000" pitchFamily="2" charset="2"/>
              <a:buChar char="Ø"/>
              <a:tabLst>
                <a:tab pos="4395788" algn="l"/>
              </a:tabLst>
            </a:pPr>
            <a:r>
              <a:rPr lang="en-US" sz="1700" dirty="0"/>
              <a:t>Background and Purpose	</a:t>
            </a:r>
            <a:r>
              <a:rPr lang="en-US" sz="1300" dirty="0">
                <a:hlinkClick r:id="rId2" action="ppaction://hlinksldjump">
                  <a:extLst>
                    <a:ext uri="{A12FA001-AC4F-418D-AE19-62706E023703}">
                      <ahyp:hlinkClr xmlns:ahyp="http://schemas.microsoft.com/office/drawing/2018/hyperlinkcolor" val="tx"/>
                    </a:ext>
                  </a:extLst>
                </a:hlinkClick>
              </a:rPr>
              <a:t>3</a:t>
            </a:r>
            <a:endParaRPr lang="en-US" sz="1300" dirty="0"/>
          </a:p>
          <a:p>
            <a:pPr lvl="1">
              <a:lnSpc>
                <a:spcPct val="100000"/>
              </a:lnSpc>
              <a:spcBef>
                <a:spcPts val="1000"/>
              </a:spcBef>
              <a:buClr>
                <a:schemeClr val="accent1"/>
              </a:buClr>
              <a:buFont typeface="Wingdings" panose="05000000000000000000" pitchFamily="2" charset="2"/>
              <a:buChar char="Ø"/>
              <a:tabLst>
                <a:tab pos="4395788" algn="l"/>
              </a:tabLst>
            </a:pPr>
            <a:r>
              <a:rPr lang="en-US" sz="1700" dirty="0"/>
              <a:t>Data Preparation	</a:t>
            </a:r>
            <a:r>
              <a:rPr lang="en-US" sz="1300" dirty="0">
                <a:hlinkClick r:id="rId3" action="ppaction://hlinksldjump">
                  <a:extLst>
                    <a:ext uri="{A12FA001-AC4F-418D-AE19-62706E023703}">
                      <ahyp:hlinkClr xmlns:ahyp="http://schemas.microsoft.com/office/drawing/2018/hyperlinkcolor" val="tx"/>
                    </a:ext>
                  </a:extLst>
                </a:hlinkClick>
              </a:rPr>
              <a:t>4</a:t>
            </a:r>
            <a:endParaRPr lang="en-US" sz="1300" dirty="0"/>
          </a:p>
          <a:p>
            <a:pPr lvl="1">
              <a:lnSpc>
                <a:spcPct val="100000"/>
              </a:lnSpc>
              <a:spcBef>
                <a:spcPts val="1000"/>
              </a:spcBef>
              <a:buClr>
                <a:schemeClr val="accent1"/>
              </a:buClr>
              <a:buFont typeface="Wingdings" panose="05000000000000000000" pitchFamily="2" charset="2"/>
              <a:buChar char="Ø"/>
            </a:pPr>
            <a:r>
              <a:rPr lang="en-US" sz="1700" dirty="0"/>
              <a:t>State wise</a:t>
            </a:r>
          </a:p>
          <a:p>
            <a:pPr lvl="2">
              <a:lnSpc>
                <a:spcPct val="100000"/>
              </a:lnSpc>
              <a:spcBef>
                <a:spcPts val="1000"/>
              </a:spcBef>
              <a:buClr>
                <a:schemeClr val="accent1"/>
              </a:buClr>
              <a:buFont typeface="Wingdings" panose="05000000000000000000" pitchFamily="2" charset="2"/>
              <a:buChar char="Ø"/>
              <a:tabLst>
                <a:tab pos="4395788" algn="l"/>
              </a:tabLst>
            </a:pPr>
            <a:r>
              <a:rPr lang="en-US" sz="1300" dirty="0"/>
              <a:t>Pesticide Sales Analysis	</a:t>
            </a:r>
            <a:r>
              <a:rPr lang="en-US" sz="1300" dirty="0">
                <a:hlinkClick r:id="rId4" action="ppaction://hlinksldjump">
                  <a:extLst>
                    <a:ext uri="{A12FA001-AC4F-418D-AE19-62706E023703}">
                      <ahyp:hlinkClr xmlns:ahyp="http://schemas.microsoft.com/office/drawing/2018/hyperlinkcolor" val="tx"/>
                    </a:ext>
                  </a:extLst>
                </a:hlinkClick>
              </a:rPr>
              <a:t>5</a:t>
            </a:r>
            <a:endParaRPr lang="en-US" sz="1300" dirty="0"/>
          </a:p>
          <a:p>
            <a:pPr lvl="2">
              <a:lnSpc>
                <a:spcPct val="100000"/>
              </a:lnSpc>
              <a:spcBef>
                <a:spcPts val="1000"/>
              </a:spcBef>
              <a:buClr>
                <a:schemeClr val="accent1"/>
              </a:buClr>
              <a:buFont typeface="Wingdings" panose="05000000000000000000" pitchFamily="2" charset="2"/>
              <a:buChar char="Ø"/>
              <a:tabLst>
                <a:tab pos="4395788" algn="l"/>
              </a:tabLst>
            </a:pPr>
            <a:r>
              <a:rPr lang="en-US" sz="1300" dirty="0"/>
              <a:t>District - Sales Analysis	</a:t>
            </a:r>
            <a:r>
              <a:rPr lang="en-US" sz="1300" dirty="0">
                <a:hlinkClick r:id="rId5" action="ppaction://hlinksldjump">
                  <a:extLst>
                    <a:ext uri="{A12FA001-AC4F-418D-AE19-62706E023703}">
                      <ahyp:hlinkClr xmlns:ahyp="http://schemas.microsoft.com/office/drawing/2018/hyperlinkcolor" val="tx"/>
                    </a:ext>
                  </a:extLst>
                </a:hlinkClick>
              </a:rPr>
              <a:t>6</a:t>
            </a:r>
            <a:endParaRPr lang="en-US" sz="1300" dirty="0"/>
          </a:p>
          <a:p>
            <a:pPr lvl="2">
              <a:lnSpc>
                <a:spcPct val="100000"/>
              </a:lnSpc>
              <a:spcBef>
                <a:spcPts val="1000"/>
              </a:spcBef>
              <a:buClr>
                <a:schemeClr val="accent1"/>
              </a:buClr>
              <a:buFont typeface="Wingdings" panose="05000000000000000000" pitchFamily="2" charset="2"/>
              <a:buChar char="Ø"/>
              <a:tabLst>
                <a:tab pos="4395788" algn="l"/>
              </a:tabLst>
            </a:pPr>
            <a:r>
              <a:rPr lang="en-US" sz="1300" dirty="0"/>
              <a:t>State wise Population Analysis	</a:t>
            </a:r>
            <a:r>
              <a:rPr lang="en-US" sz="1300" dirty="0">
                <a:hlinkClick r:id="rId6" action="ppaction://hlinksldjump">
                  <a:extLst>
                    <a:ext uri="{A12FA001-AC4F-418D-AE19-62706E023703}">
                      <ahyp:hlinkClr xmlns:ahyp="http://schemas.microsoft.com/office/drawing/2018/hyperlinkcolor" val="tx"/>
                    </a:ext>
                  </a:extLst>
                </a:hlinkClick>
              </a:rPr>
              <a:t>7</a:t>
            </a:r>
            <a:endParaRPr lang="en-US" sz="1300" dirty="0"/>
          </a:p>
          <a:p>
            <a:pPr lvl="1">
              <a:lnSpc>
                <a:spcPct val="100000"/>
              </a:lnSpc>
              <a:spcBef>
                <a:spcPts val="1000"/>
              </a:spcBef>
              <a:buClr>
                <a:schemeClr val="accent1"/>
              </a:buClr>
              <a:buFont typeface="Wingdings" panose="05000000000000000000" pitchFamily="2" charset="2"/>
              <a:buChar char="Ø"/>
            </a:pPr>
            <a:r>
              <a:rPr lang="en-US" sz="1600" dirty="0"/>
              <a:t>Other factors </a:t>
            </a:r>
          </a:p>
          <a:p>
            <a:pPr lvl="2">
              <a:lnSpc>
                <a:spcPct val="100000"/>
              </a:lnSpc>
              <a:spcBef>
                <a:spcPts val="1000"/>
              </a:spcBef>
              <a:buClr>
                <a:schemeClr val="accent1"/>
              </a:buClr>
              <a:buFont typeface="Wingdings" panose="05000000000000000000" pitchFamily="2" charset="2"/>
              <a:buChar char="Ø"/>
              <a:tabLst>
                <a:tab pos="4395788" algn="l"/>
              </a:tabLst>
            </a:pPr>
            <a:r>
              <a:rPr lang="en-US" sz="1300" dirty="0"/>
              <a:t>Month consumption details	</a:t>
            </a:r>
            <a:r>
              <a:rPr lang="en-US" sz="1300" dirty="0">
                <a:hlinkClick r:id="rId7" action="ppaction://hlinksldjump">
                  <a:extLst>
                    <a:ext uri="{A12FA001-AC4F-418D-AE19-62706E023703}">
                      <ahyp:hlinkClr xmlns:ahyp="http://schemas.microsoft.com/office/drawing/2018/hyperlinkcolor" val="tx"/>
                    </a:ext>
                  </a:extLst>
                </a:hlinkClick>
              </a:rPr>
              <a:t>8</a:t>
            </a:r>
            <a:endParaRPr lang="en-US" sz="1300" dirty="0"/>
          </a:p>
          <a:p>
            <a:pPr lvl="2">
              <a:lnSpc>
                <a:spcPct val="100000"/>
              </a:lnSpc>
              <a:spcBef>
                <a:spcPts val="1000"/>
              </a:spcBef>
              <a:buClr>
                <a:schemeClr val="accent1"/>
              </a:buClr>
              <a:buFont typeface="Wingdings" panose="05000000000000000000" pitchFamily="2" charset="2"/>
              <a:buChar char="Ø"/>
              <a:tabLst>
                <a:tab pos="4395788" algn="l"/>
              </a:tabLst>
            </a:pPr>
            <a:r>
              <a:rPr lang="en-US" sz="1300" dirty="0"/>
              <a:t>Competition	</a:t>
            </a:r>
            <a:r>
              <a:rPr lang="en-US" sz="1300" dirty="0">
                <a:hlinkClick r:id="rId8" action="ppaction://hlinksldjump">
                  <a:extLst>
                    <a:ext uri="{A12FA001-AC4F-418D-AE19-62706E023703}">
                      <ahyp:hlinkClr xmlns:ahyp="http://schemas.microsoft.com/office/drawing/2018/hyperlinkcolor" val="tx"/>
                    </a:ext>
                  </a:extLst>
                </a:hlinkClick>
              </a:rPr>
              <a:t>9</a:t>
            </a:r>
            <a:endParaRPr lang="en-US" sz="1300" dirty="0"/>
          </a:p>
          <a:p>
            <a:pPr lvl="2">
              <a:lnSpc>
                <a:spcPct val="100000"/>
              </a:lnSpc>
              <a:spcBef>
                <a:spcPts val="1000"/>
              </a:spcBef>
              <a:buClr>
                <a:schemeClr val="accent1"/>
              </a:buClr>
              <a:buFont typeface="Wingdings" panose="05000000000000000000" pitchFamily="2" charset="2"/>
              <a:buChar char="Ø"/>
              <a:tabLst>
                <a:tab pos="4395788" algn="l"/>
              </a:tabLst>
            </a:pPr>
            <a:r>
              <a:rPr lang="en-US" sz="1300" dirty="0"/>
              <a:t>Effect of Rainfall on Pesticide Sales	</a:t>
            </a:r>
            <a:r>
              <a:rPr lang="en-US" sz="1300" dirty="0">
                <a:hlinkClick r:id="rId9" action="ppaction://hlinksldjump">
                  <a:extLst>
                    <a:ext uri="{A12FA001-AC4F-418D-AE19-62706E023703}">
                      <ahyp:hlinkClr xmlns:ahyp="http://schemas.microsoft.com/office/drawing/2018/hyperlinkcolor" val="tx"/>
                    </a:ext>
                  </a:extLst>
                </a:hlinkClick>
              </a:rPr>
              <a:t>10</a:t>
            </a:r>
            <a:endParaRPr lang="en-US" sz="1300" dirty="0"/>
          </a:p>
          <a:p>
            <a:pPr lvl="2">
              <a:lnSpc>
                <a:spcPct val="100000"/>
              </a:lnSpc>
              <a:spcBef>
                <a:spcPts val="1000"/>
              </a:spcBef>
              <a:buClr>
                <a:schemeClr val="accent1"/>
              </a:buClr>
              <a:buFont typeface="Wingdings" panose="05000000000000000000" pitchFamily="2" charset="2"/>
              <a:buChar char="Ø"/>
              <a:tabLst>
                <a:tab pos="4395788" algn="l"/>
              </a:tabLst>
            </a:pPr>
            <a:r>
              <a:rPr lang="en-US" sz="1300" dirty="0"/>
              <a:t>Crop Cultivation Effect of the Pesticide Sale	</a:t>
            </a:r>
            <a:r>
              <a:rPr lang="en-US" sz="1300" dirty="0">
                <a:hlinkClick r:id="rId10" action="ppaction://hlinksldjump">
                  <a:extLst>
                    <a:ext uri="{A12FA001-AC4F-418D-AE19-62706E023703}">
                      <ahyp:hlinkClr xmlns:ahyp="http://schemas.microsoft.com/office/drawing/2018/hyperlinkcolor" val="tx"/>
                    </a:ext>
                  </a:extLst>
                </a:hlinkClick>
              </a:rPr>
              <a:t>11</a:t>
            </a:r>
            <a:endParaRPr lang="en-US" sz="1300" dirty="0"/>
          </a:p>
          <a:p>
            <a:pPr lvl="1">
              <a:lnSpc>
                <a:spcPct val="100000"/>
              </a:lnSpc>
              <a:spcBef>
                <a:spcPts val="1000"/>
              </a:spcBef>
              <a:buClr>
                <a:schemeClr val="accent1"/>
              </a:buClr>
              <a:buFont typeface="Wingdings" panose="05000000000000000000" pitchFamily="2" charset="2"/>
              <a:buChar char="Ø"/>
            </a:pPr>
            <a:r>
              <a:rPr lang="en-US" sz="1600" dirty="0"/>
              <a:t>Forecast Model</a:t>
            </a:r>
          </a:p>
          <a:p>
            <a:pPr lvl="2">
              <a:lnSpc>
                <a:spcPct val="100000"/>
              </a:lnSpc>
              <a:spcBef>
                <a:spcPts val="1000"/>
              </a:spcBef>
              <a:buClr>
                <a:schemeClr val="accent1"/>
              </a:buClr>
              <a:buFont typeface="Wingdings" panose="05000000000000000000" pitchFamily="2" charset="2"/>
              <a:buChar char="Ø"/>
              <a:tabLst>
                <a:tab pos="4395788" algn="l"/>
              </a:tabLst>
            </a:pPr>
            <a:r>
              <a:rPr lang="en-US" sz="1300" dirty="0"/>
              <a:t>ARIMA Model	</a:t>
            </a:r>
            <a:r>
              <a:rPr lang="en-US" sz="1300" dirty="0">
                <a:hlinkClick r:id="rId11" action="ppaction://hlinksldjump">
                  <a:extLst>
                    <a:ext uri="{A12FA001-AC4F-418D-AE19-62706E023703}">
                      <ahyp:hlinkClr xmlns:ahyp="http://schemas.microsoft.com/office/drawing/2018/hyperlinkcolor" val="tx"/>
                    </a:ext>
                  </a:extLst>
                </a:hlinkClick>
              </a:rPr>
              <a:t>12</a:t>
            </a:r>
            <a:endParaRPr lang="en-US" sz="1300" dirty="0"/>
          </a:p>
          <a:p>
            <a:pPr lvl="2">
              <a:lnSpc>
                <a:spcPct val="100000"/>
              </a:lnSpc>
              <a:spcBef>
                <a:spcPts val="1000"/>
              </a:spcBef>
              <a:buClr>
                <a:schemeClr val="accent1"/>
              </a:buClr>
              <a:buFont typeface="Wingdings" panose="05000000000000000000" pitchFamily="2" charset="2"/>
              <a:buChar char="Ø"/>
              <a:tabLst>
                <a:tab pos="4395788" algn="l"/>
              </a:tabLst>
            </a:pPr>
            <a:r>
              <a:rPr lang="en-US" sz="1300" dirty="0"/>
              <a:t>Exogenous data set - SARIMAX Model	</a:t>
            </a:r>
            <a:r>
              <a:rPr lang="en-US" sz="1300" dirty="0">
                <a:hlinkClick r:id="rId12" action="ppaction://hlinksldjump">
                  <a:extLst>
                    <a:ext uri="{A12FA001-AC4F-418D-AE19-62706E023703}">
                      <ahyp:hlinkClr xmlns:ahyp="http://schemas.microsoft.com/office/drawing/2018/hyperlinkcolor" val="tx"/>
                    </a:ext>
                  </a:extLst>
                </a:hlinkClick>
              </a:rPr>
              <a:t>13-14</a:t>
            </a:r>
            <a:endParaRPr lang="en-US" sz="1300" dirty="0"/>
          </a:p>
          <a:p>
            <a:pPr lvl="2">
              <a:lnSpc>
                <a:spcPct val="100000"/>
              </a:lnSpc>
              <a:spcBef>
                <a:spcPts val="1000"/>
              </a:spcBef>
              <a:buClr>
                <a:schemeClr val="accent1"/>
              </a:buClr>
              <a:buFont typeface="Wingdings" panose="05000000000000000000" pitchFamily="2" charset="2"/>
              <a:buChar char="Ø"/>
              <a:tabLst>
                <a:tab pos="4395788" algn="l"/>
              </a:tabLst>
            </a:pPr>
            <a:r>
              <a:rPr lang="en-IN" sz="1300" dirty="0"/>
              <a:t> </a:t>
            </a:r>
            <a:r>
              <a:rPr lang="en-US" sz="1300" dirty="0"/>
              <a:t>Holt's method with Additive Trend &amp; Seasonality </a:t>
            </a:r>
            <a:r>
              <a:rPr lang="en-IN" sz="1300" dirty="0"/>
              <a:t>	</a:t>
            </a:r>
            <a:r>
              <a:rPr lang="en-IN" sz="1300" dirty="0">
                <a:hlinkClick r:id="rId13" action="ppaction://hlinksldjump">
                  <a:extLst>
                    <a:ext uri="{A12FA001-AC4F-418D-AE19-62706E023703}">
                      <ahyp:hlinkClr xmlns:ahyp="http://schemas.microsoft.com/office/drawing/2018/hyperlinkcolor" val="tx"/>
                    </a:ext>
                  </a:extLst>
                </a:hlinkClick>
              </a:rPr>
              <a:t>15</a:t>
            </a:r>
            <a:endParaRPr lang="en-IN" sz="1300" dirty="0"/>
          </a:p>
          <a:p>
            <a:pPr lvl="2">
              <a:lnSpc>
                <a:spcPct val="100000"/>
              </a:lnSpc>
              <a:spcBef>
                <a:spcPts val="1000"/>
              </a:spcBef>
              <a:buClr>
                <a:schemeClr val="accent1"/>
              </a:buClr>
              <a:buFont typeface="Wingdings" panose="05000000000000000000" pitchFamily="2" charset="2"/>
              <a:buChar char="Ø"/>
              <a:tabLst>
                <a:tab pos="4395788" algn="l"/>
              </a:tabLst>
            </a:pPr>
            <a:r>
              <a:rPr lang="en-IN" sz="1300" dirty="0"/>
              <a:t>Conclusion</a:t>
            </a:r>
            <a:r>
              <a:rPr lang="en-IN" sz="1400" dirty="0">
                <a:latin typeface="Cambria" panose="02040503050406030204" pitchFamily="18" charset="0"/>
              </a:rPr>
              <a:t>	</a:t>
            </a:r>
            <a:r>
              <a:rPr lang="en-IN" sz="1300" dirty="0">
                <a:hlinkClick r:id="rId14" action="ppaction://hlinksldjump">
                  <a:extLst>
                    <a:ext uri="{A12FA001-AC4F-418D-AE19-62706E023703}">
                      <ahyp:hlinkClr xmlns:ahyp="http://schemas.microsoft.com/office/drawing/2018/hyperlinkcolor" val="tx"/>
                    </a:ext>
                  </a:extLst>
                </a:hlinkClick>
              </a:rPr>
              <a:t>16</a:t>
            </a:r>
            <a:endParaRPr lang="en-IN" sz="1300" dirty="0"/>
          </a:p>
          <a:p>
            <a:pPr lvl="2">
              <a:lnSpc>
                <a:spcPct val="100000"/>
              </a:lnSpc>
              <a:spcBef>
                <a:spcPts val="1000"/>
              </a:spcBef>
              <a:buClr>
                <a:schemeClr val="accent1"/>
              </a:buClr>
              <a:buFont typeface="Wingdings" panose="05000000000000000000" pitchFamily="2" charset="2"/>
              <a:buChar char="Ø"/>
              <a:tabLst>
                <a:tab pos="4395788" algn="l"/>
              </a:tabLst>
            </a:pPr>
            <a:r>
              <a:rPr lang="en-IN" sz="1400" dirty="0">
                <a:latin typeface="Cambria" panose="02040503050406030204" pitchFamily="18" charset="0"/>
              </a:rPr>
              <a:t>Recommendations	</a:t>
            </a:r>
            <a:r>
              <a:rPr lang="en-IN" sz="1300" dirty="0">
                <a:hlinkClick r:id="rId15" action="ppaction://hlinksldjump">
                  <a:extLst>
                    <a:ext uri="{A12FA001-AC4F-418D-AE19-62706E023703}">
                      <ahyp:hlinkClr xmlns:ahyp="http://schemas.microsoft.com/office/drawing/2018/hyperlinkcolor" val="tx"/>
                    </a:ext>
                  </a:extLst>
                </a:hlinkClick>
              </a:rPr>
              <a:t>17</a:t>
            </a:r>
            <a:endParaRPr lang="en-IN" sz="1300" dirty="0"/>
          </a:p>
          <a:p>
            <a:pPr lvl="2">
              <a:lnSpc>
                <a:spcPct val="100000"/>
              </a:lnSpc>
              <a:spcBef>
                <a:spcPts val="1000"/>
              </a:spcBef>
              <a:buClr>
                <a:schemeClr val="accent1"/>
              </a:buClr>
              <a:buFont typeface="Wingdings" panose="05000000000000000000" pitchFamily="2" charset="2"/>
              <a:buChar char="Ø"/>
              <a:tabLst>
                <a:tab pos="4395788" algn="l"/>
              </a:tabLst>
            </a:pPr>
            <a:r>
              <a:rPr lang="en-IN" sz="1300" dirty="0"/>
              <a:t>End	</a:t>
            </a:r>
            <a:r>
              <a:rPr lang="en-IN" sz="1300" dirty="0">
                <a:hlinkClick r:id="rId16" action="ppaction://hlinksldjump">
                  <a:extLst>
                    <a:ext uri="{A12FA001-AC4F-418D-AE19-62706E023703}">
                      <ahyp:hlinkClr xmlns:ahyp="http://schemas.microsoft.com/office/drawing/2018/hyperlinkcolor" val="tx"/>
                    </a:ext>
                  </a:extLst>
                </a:hlinkClick>
              </a:rPr>
              <a:t>18</a:t>
            </a:r>
            <a:endParaRPr lang="en-IN" sz="1300" dirty="0"/>
          </a:p>
          <a:p>
            <a:pPr marL="914400" lvl="2" indent="0">
              <a:lnSpc>
                <a:spcPct val="100000"/>
              </a:lnSpc>
              <a:spcBef>
                <a:spcPts val="1000"/>
              </a:spcBef>
              <a:buClr>
                <a:schemeClr val="accent1"/>
              </a:buClr>
              <a:buFont typeface="Arial" panose="020B0604020202020204" pitchFamily="34" charset="0"/>
              <a:buNone/>
              <a:tabLst>
                <a:tab pos="4395788" algn="l"/>
              </a:tabLst>
            </a:pPr>
            <a:r>
              <a:rPr lang="en-US" sz="1200" dirty="0"/>
              <a:t>	</a:t>
            </a:r>
            <a:endParaRPr lang="en-US" dirty="0"/>
          </a:p>
        </p:txBody>
      </p:sp>
    </p:spTree>
    <p:extLst>
      <p:ext uri="{BB962C8B-B14F-4D97-AF65-F5344CB8AC3E}">
        <p14:creationId xmlns:p14="http://schemas.microsoft.com/office/powerpoint/2010/main" val="33248769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8CE9A-1742-4ACD-A73A-3E152E94E1F8}"/>
              </a:ext>
            </a:extLst>
          </p:cNvPr>
          <p:cNvSpPr>
            <a:spLocks noGrp="1"/>
          </p:cNvSpPr>
          <p:nvPr>
            <p:ph type="title"/>
          </p:nvPr>
        </p:nvSpPr>
        <p:spPr>
          <a:xfrm>
            <a:off x="82055" y="136525"/>
            <a:ext cx="12029733" cy="669557"/>
          </a:xfrm>
        </p:spPr>
        <p:txBody>
          <a:bodyPr>
            <a:normAutofit/>
          </a:bodyPr>
          <a:lstStyle/>
          <a:p>
            <a:pPr algn="ctr"/>
            <a:r>
              <a:rPr lang="en-IN" sz="3200" dirty="0"/>
              <a:t>Background and Purpose</a:t>
            </a:r>
          </a:p>
        </p:txBody>
      </p:sp>
      <p:sp>
        <p:nvSpPr>
          <p:cNvPr id="10" name="Slide Number Placeholder 9">
            <a:extLst>
              <a:ext uri="{FF2B5EF4-FFF2-40B4-BE49-F238E27FC236}">
                <a16:creationId xmlns:a16="http://schemas.microsoft.com/office/drawing/2014/main" id="{31139884-C1F5-4ADC-9DB2-874E0325565E}"/>
              </a:ext>
            </a:extLst>
          </p:cNvPr>
          <p:cNvSpPr>
            <a:spLocks noGrp="1"/>
          </p:cNvSpPr>
          <p:nvPr>
            <p:ph type="sldNum" sz="quarter" idx="12"/>
          </p:nvPr>
        </p:nvSpPr>
        <p:spPr/>
        <p:txBody>
          <a:bodyPr/>
          <a:lstStyle/>
          <a:p>
            <a:fld id="{34B7E4EF-A1BD-40F4-AB7B-04F084DD991D}" type="slidenum">
              <a:rPr lang="en-US" smtClean="0"/>
              <a:t>3</a:t>
            </a:fld>
            <a:endParaRPr lang="en-US" dirty="0"/>
          </a:p>
        </p:txBody>
      </p:sp>
      <p:sp>
        <p:nvSpPr>
          <p:cNvPr id="3" name="TextBox 2">
            <a:extLst>
              <a:ext uri="{FF2B5EF4-FFF2-40B4-BE49-F238E27FC236}">
                <a16:creationId xmlns:a16="http://schemas.microsoft.com/office/drawing/2014/main" id="{41B89F2A-3145-431E-BFC9-11FC24DB8012}"/>
              </a:ext>
            </a:extLst>
          </p:cNvPr>
          <p:cNvSpPr txBox="1"/>
          <p:nvPr/>
        </p:nvSpPr>
        <p:spPr>
          <a:xfrm>
            <a:off x="788913" y="1030730"/>
            <a:ext cx="10972800" cy="1569660"/>
          </a:xfrm>
          <a:prstGeom prst="rect">
            <a:avLst/>
          </a:prstGeom>
          <a:noFill/>
        </p:spPr>
        <p:txBody>
          <a:bodyPr wrap="square" rtlCol="0">
            <a:spAutoFit/>
          </a:bodyPr>
          <a:lstStyle/>
          <a:p>
            <a:r>
              <a:rPr lang="en-US" sz="1600" dirty="0"/>
              <a:t>In this project, we are analyzing and forecasting the sales of pesticides for a domestic pesticide manufacturing company (ABC Manufacturing) and analyzing variables that impact the sales of the product. This will enable the pesticide company to manage the production to meet growth/slowdown in sales as per the sales forecast.</a:t>
            </a:r>
            <a:endParaRPr lang="en-IN" sz="1600" b="1" dirty="0"/>
          </a:p>
          <a:p>
            <a:endParaRPr lang="en-IN" sz="1600" b="1" dirty="0"/>
          </a:p>
          <a:p>
            <a:r>
              <a:rPr lang="en-IN" sz="1600" dirty="0"/>
              <a:t>ABC Specialises in manufacturing and sales of pesticides in various pesticides to be used for agricultural crops. ABC is no 1 of market position with sales of 50 Million (INR) recorded so far</a:t>
            </a:r>
            <a:r>
              <a:rPr lang="en-US" sz="1600" dirty="0"/>
              <a:t>. </a:t>
            </a:r>
          </a:p>
        </p:txBody>
      </p:sp>
      <p:sp>
        <p:nvSpPr>
          <p:cNvPr id="9" name="TextBox 8">
            <a:extLst>
              <a:ext uri="{FF2B5EF4-FFF2-40B4-BE49-F238E27FC236}">
                <a16:creationId xmlns:a16="http://schemas.microsoft.com/office/drawing/2014/main" id="{2E080125-57C6-417E-8697-EDE52365AACC}"/>
              </a:ext>
            </a:extLst>
          </p:cNvPr>
          <p:cNvSpPr txBox="1"/>
          <p:nvPr/>
        </p:nvSpPr>
        <p:spPr>
          <a:xfrm>
            <a:off x="788913" y="2825038"/>
            <a:ext cx="10972800" cy="3154903"/>
          </a:xfrm>
          <a:prstGeom prst="rect">
            <a:avLst/>
          </a:prstGeom>
          <a:noFill/>
        </p:spPr>
        <p:txBody>
          <a:bodyPr wrap="square" rtlCol="0">
            <a:spAutoFit/>
          </a:bodyPr>
          <a:lstStyle/>
          <a:p>
            <a:r>
              <a:rPr lang="en-IN" sz="1600" dirty="0"/>
              <a:t>The following at the points noted –</a:t>
            </a:r>
          </a:p>
          <a:p>
            <a:pPr marL="800100" lvl="1" indent="-342900">
              <a:lnSpc>
                <a:spcPct val="80000"/>
              </a:lnSpc>
              <a:spcBef>
                <a:spcPts val="1000"/>
              </a:spcBef>
              <a:buClr>
                <a:schemeClr val="accent1"/>
              </a:buClr>
              <a:buFont typeface="Wingdings" panose="05000000000000000000" pitchFamily="2" charset="2"/>
              <a:buChar char="Ø"/>
            </a:pPr>
            <a:r>
              <a:rPr lang="en-IN" sz="1400" dirty="0"/>
              <a:t>ABC has good presence in Herbicides, Insecticides and Rodenticides but not Bactericides</a:t>
            </a:r>
          </a:p>
          <a:p>
            <a:pPr marL="800100" lvl="1" indent="-342900">
              <a:lnSpc>
                <a:spcPct val="80000"/>
              </a:lnSpc>
              <a:spcBef>
                <a:spcPts val="1000"/>
              </a:spcBef>
              <a:buClr>
                <a:schemeClr val="accent1"/>
              </a:buClr>
              <a:buFont typeface="Wingdings" panose="05000000000000000000" pitchFamily="2" charset="2"/>
              <a:buChar char="Ø"/>
            </a:pPr>
            <a:r>
              <a:rPr lang="en-IN" sz="1400" dirty="0"/>
              <a:t>Current market position is no 1 however the competitors combined sales outcasts the sales of ABC</a:t>
            </a:r>
          </a:p>
          <a:p>
            <a:pPr marL="800100" lvl="1" indent="-342900">
              <a:lnSpc>
                <a:spcPct val="80000"/>
              </a:lnSpc>
              <a:spcBef>
                <a:spcPts val="1000"/>
              </a:spcBef>
              <a:buClr>
                <a:schemeClr val="accent1"/>
              </a:buClr>
              <a:buFont typeface="Wingdings" panose="05000000000000000000" pitchFamily="2" charset="2"/>
              <a:buChar char="Ø"/>
            </a:pPr>
            <a:r>
              <a:rPr lang="en-IN" sz="1400" dirty="0"/>
              <a:t>Among the products Insecticides amount to 2/3 of sales value with Herbicides and Rodenticides</a:t>
            </a:r>
          </a:p>
          <a:p>
            <a:pPr marL="285750" indent="-285750">
              <a:buFont typeface="Wingdings" panose="05000000000000000000" pitchFamily="2" charset="2"/>
              <a:buChar char="Ø"/>
            </a:pPr>
            <a:endParaRPr lang="en-IN" sz="1400" dirty="0"/>
          </a:p>
          <a:p>
            <a:endParaRPr lang="en-US" sz="1600" dirty="0"/>
          </a:p>
          <a:p>
            <a:r>
              <a:rPr lang="en-US" sz="1600" dirty="0"/>
              <a:t>As a part of strategic initiative, ABC is looking at expanding the market position and sales in this regard is looking to – </a:t>
            </a:r>
          </a:p>
          <a:p>
            <a:pPr marL="742950" lvl="1" indent="-285750">
              <a:lnSpc>
                <a:spcPct val="80000"/>
              </a:lnSpc>
              <a:spcBef>
                <a:spcPts val="1000"/>
              </a:spcBef>
              <a:buClr>
                <a:schemeClr val="accent1"/>
              </a:buClr>
              <a:buFont typeface="Wingdings" panose="05000000000000000000" pitchFamily="2" charset="2"/>
              <a:buChar char="Ø"/>
            </a:pPr>
            <a:r>
              <a:rPr lang="en-US" sz="1400" dirty="0"/>
              <a:t>Conduct state wise trend analysis of the given sales 				(refer slide 5 to 7)</a:t>
            </a:r>
          </a:p>
          <a:p>
            <a:pPr marL="742950" lvl="1" indent="-285750">
              <a:lnSpc>
                <a:spcPct val="80000"/>
              </a:lnSpc>
              <a:spcBef>
                <a:spcPts val="1000"/>
              </a:spcBef>
              <a:buClr>
                <a:schemeClr val="accent1"/>
              </a:buClr>
              <a:buFont typeface="Wingdings" panose="05000000000000000000" pitchFamily="2" charset="2"/>
              <a:buChar char="Ø"/>
            </a:pPr>
            <a:r>
              <a:rPr lang="en-US" sz="1400" dirty="0"/>
              <a:t>To identify other reasons if they are influencing Pesticide sales 			(refer slide 8 to 11)</a:t>
            </a:r>
          </a:p>
          <a:p>
            <a:pPr marL="742950" lvl="1" indent="-285750">
              <a:lnSpc>
                <a:spcPct val="80000"/>
              </a:lnSpc>
              <a:spcBef>
                <a:spcPts val="1000"/>
              </a:spcBef>
              <a:buClr>
                <a:schemeClr val="accent1"/>
              </a:buClr>
              <a:buFont typeface="Wingdings" panose="05000000000000000000" pitchFamily="2" charset="2"/>
              <a:buChar char="Ø"/>
            </a:pPr>
            <a:r>
              <a:rPr lang="en-US" sz="1400" dirty="0"/>
              <a:t>To provide state wise forecast of Pesticide sales for ABC Manufacturing  		(refer slide 12 to 15)</a:t>
            </a:r>
          </a:p>
          <a:p>
            <a:pPr marL="742950" lvl="1" indent="-285750">
              <a:lnSpc>
                <a:spcPct val="80000"/>
              </a:lnSpc>
              <a:spcBef>
                <a:spcPts val="1000"/>
              </a:spcBef>
              <a:buClr>
                <a:schemeClr val="accent1"/>
              </a:buClr>
              <a:buFont typeface="Wingdings" panose="05000000000000000000" pitchFamily="2" charset="2"/>
              <a:buChar char="Ø"/>
            </a:pPr>
            <a:r>
              <a:rPr lang="en-US" sz="1400" dirty="0"/>
              <a:t>For conclusion 	and recommendations					(refer slide 16 &amp; 17)</a:t>
            </a:r>
          </a:p>
        </p:txBody>
      </p:sp>
    </p:spTree>
    <p:extLst>
      <p:ext uri="{BB962C8B-B14F-4D97-AF65-F5344CB8AC3E}">
        <p14:creationId xmlns:p14="http://schemas.microsoft.com/office/powerpoint/2010/main" val="12992005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12673" y="3934745"/>
            <a:ext cx="3741127" cy="20215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12673" y="992832"/>
            <a:ext cx="3741127" cy="2794141"/>
          </a:xfrm>
          <a:prstGeom prst="rect">
            <a:avLst/>
          </a:prstGeom>
        </p:spPr>
      </p:pic>
      <p:sp>
        <p:nvSpPr>
          <p:cNvPr id="7" name="Title 1">
            <a:extLst>
              <a:ext uri="{FF2B5EF4-FFF2-40B4-BE49-F238E27FC236}">
                <a16:creationId xmlns:a16="http://schemas.microsoft.com/office/drawing/2014/main" id="{99D8457F-A2A0-45EF-9237-48485A693502}"/>
              </a:ext>
            </a:extLst>
          </p:cNvPr>
          <p:cNvSpPr txBox="1">
            <a:spLocks/>
          </p:cNvSpPr>
          <p:nvPr/>
        </p:nvSpPr>
        <p:spPr>
          <a:xfrm>
            <a:off x="0" y="200357"/>
            <a:ext cx="12191999" cy="66955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3200" dirty="0"/>
              <a:t>Data Preparation</a:t>
            </a:r>
          </a:p>
        </p:txBody>
      </p:sp>
      <p:sp>
        <p:nvSpPr>
          <p:cNvPr id="9" name="TextBox 8">
            <a:extLst>
              <a:ext uri="{FF2B5EF4-FFF2-40B4-BE49-F238E27FC236}">
                <a16:creationId xmlns:a16="http://schemas.microsoft.com/office/drawing/2014/main" id="{45036978-ED98-4CBC-94CE-1AFF01A62402}"/>
              </a:ext>
            </a:extLst>
          </p:cNvPr>
          <p:cNvSpPr txBox="1"/>
          <p:nvPr/>
        </p:nvSpPr>
        <p:spPr>
          <a:xfrm>
            <a:off x="728079" y="992833"/>
            <a:ext cx="6791401" cy="5249835"/>
          </a:xfrm>
          <a:prstGeom prst="rect">
            <a:avLst/>
          </a:prstGeom>
          <a:noFill/>
        </p:spPr>
        <p:txBody>
          <a:bodyPr wrap="square" rtlCol="0">
            <a:spAutoFit/>
          </a:bodyPr>
          <a:lstStyle/>
          <a:p>
            <a:pPr marL="342900" indent="-342900">
              <a:lnSpc>
                <a:spcPct val="80000"/>
              </a:lnSpc>
              <a:spcBef>
                <a:spcPts val="1000"/>
              </a:spcBef>
              <a:buClr>
                <a:schemeClr val="accent1"/>
              </a:buClr>
              <a:buFont typeface="Wingdings" panose="05000000000000000000" pitchFamily="2" charset="2"/>
              <a:buChar char="Ø"/>
            </a:pPr>
            <a:r>
              <a:rPr lang="en-US" sz="1600" dirty="0"/>
              <a:t>Basic data for the Pesticide Sales - </a:t>
            </a:r>
          </a:p>
          <a:p>
            <a:pPr lvl="1">
              <a:lnSpc>
                <a:spcPct val="80000"/>
              </a:lnSpc>
              <a:spcBef>
                <a:spcPts val="1000"/>
              </a:spcBef>
              <a:buClr>
                <a:schemeClr val="accent1"/>
              </a:buClr>
            </a:pPr>
            <a:r>
              <a:rPr lang="en-US" sz="1400" dirty="0"/>
              <a:t>The basic data has been processed by the MS Excel file containing 230,153 record of data for the variables – Financial Year, Month, State, FG, District, Company and Value</a:t>
            </a:r>
          </a:p>
          <a:p>
            <a:pPr marL="342900" indent="-342900">
              <a:lnSpc>
                <a:spcPct val="80000"/>
              </a:lnSpc>
              <a:spcBef>
                <a:spcPts val="1000"/>
              </a:spcBef>
              <a:buClr>
                <a:schemeClr val="accent1"/>
              </a:buClr>
              <a:buFont typeface="Wingdings" panose="05000000000000000000" pitchFamily="2" charset="2"/>
              <a:buChar char="Ø"/>
            </a:pPr>
            <a:r>
              <a:rPr lang="en-US" sz="1600" dirty="0"/>
              <a:t>Additional external data has been obtained for </a:t>
            </a:r>
          </a:p>
          <a:p>
            <a:pPr marL="800100" lvl="1" indent="-342900">
              <a:lnSpc>
                <a:spcPct val="80000"/>
              </a:lnSpc>
              <a:spcBef>
                <a:spcPts val="1000"/>
              </a:spcBef>
              <a:buClr>
                <a:schemeClr val="accent1"/>
              </a:buClr>
              <a:buFont typeface="Wingdings" panose="05000000000000000000" pitchFamily="2" charset="2"/>
              <a:buChar char="Ø"/>
            </a:pPr>
            <a:r>
              <a:rPr lang="en-US" sz="1400" dirty="0"/>
              <a:t>Crop Production from Directorate of Economics and Statistics, Ministry of Agriculture and Farmer Welfare, GOI</a:t>
            </a:r>
          </a:p>
          <a:p>
            <a:pPr marL="800100" lvl="1" indent="-342900">
              <a:lnSpc>
                <a:spcPct val="80000"/>
              </a:lnSpc>
              <a:spcBef>
                <a:spcPts val="1000"/>
              </a:spcBef>
              <a:buClr>
                <a:schemeClr val="accent1"/>
              </a:buClr>
              <a:buFont typeface="Wingdings" panose="05000000000000000000" pitchFamily="2" charset="2"/>
              <a:buChar char="Ø"/>
            </a:pPr>
            <a:r>
              <a:rPr lang="en-US" sz="1400" dirty="0"/>
              <a:t>Population for the five states from Census of India </a:t>
            </a:r>
            <a:r>
              <a:rPr lang="en-US" sz="1400" dirty="0">
                <a:hlinkClick r:id="rId4">
                  <a:extLst>
                    <a:ext uri="{A12FA001-AC4F-418D-AE19-62706E023703}">
                      <ahyp:hlinkClr xmlns:ahyp="http://schemas.microsoft.com/office/drawing/2018/hyperlinkcolor" val="tx"/>
                    </a:ext>
                  </a:extLst>
                </a:hlinkClick>
              </a:rPr>
              <a:t>website</a:t>
            </a:r>
            <a:r>
              <a:rPr lang="en-US" sz="1400" dirty="0"/>
              <a:t>, Wikipedia and other sources not considering year wise data assuming the change percentage as constant</a:t>
            </a:r>
          </a:p>
          <a:p>
            <a:pPr marL="800100" lvl="1" indent="-342900">
              <a:lnSpc>
                <a:spcPct val="80000"/>
              </a:lnSpc>
              <a:spcBef>
                <a:spcPts val="1000"/>
              </a:spcBef>
              <a:buClr>
                <a:schemeClr val="accent1"/>
              </a:buClr>
              <a:buFont typeface="Wingdings" panose="05000000000000000000" pitchFamily="2" charset="2"/>
              <a:buChar char="Ø"/>
            </a:pPr>
            <a:r>
              <a:rPr lang="en-US" sz="1400" dirty="0"/>
              <a:t>Rain fall data for the appliable time period from India Meteorological Department-Rain fall statistics of India-2018</a:t>
            </a:r>
          </a:p>
          <a:p>
            <a:pPr marL="285750" indent="-285750">
              <a:lnSpc>
                <a:spcPct val="80000"/>
              </a:lnSpc>
              <a:spcBef>
                <a:spcPts val="1000"/>
              </a:spcBef>
              <a:buClr>
                <a:schemeClr val="accent1"/>
              </a:buClr>
              <a:buFont typeface="Wingdings" panose="05000000000000000000" pitchFamily="2" charset="2"/>
              <a:buChar char="Ø"/>
            </a:pPr>
            <a:r>
              <a:rPr lang="en-US" sz="1600" dirty="0"/>
              <a:t>Handling NA Data</a:t>
            </a:r>
          </a:p>
          <a:p>
            <a:pPr marL="742950" lvl="1" indent="-285750">
              <a:lnSpc>
                <a:spcPct val="80000"/>
              </a:lnSpc>
              <a:spcBef>
                <a:spcPts val="1000"/>
              </a:spcBef>
              <a:buClr>
                <a:schemeClr val="accent1"/>
              </a:buClr>
              <a:buFont typeface="Wingdings" panose="05000000000000000000" pitchFamily="2" charset="2"/>
              <a:buChar char="Ø"/>
            </a:pPr>
            <a:r>
              <a:rPr lang="en-US" sz="1400" dirty="0"/>
              <a:t>From the data set provided we have observed the data did not have any major NA values</a:t>
            </a:r>
          </a:p>
          <a:p>
            <a:pPr marL="742950" lvl="1" indent="-285750">
              <a:lnSpc>
                <a:spcPct val="80000"/>
              </a:lnSpc>
              <a:spcBef>
                <a:spcPts val="1000"/>
              </a:spcBef>
              <a:buClr>
                <a:schemeClr val="accent1"/>
              </a:buClr>
              <a:buFont typeface="Wingdings" panose="05000000000000000000" pitchFamily="2" charset="2"/>
              <a:buChar char="Ø"/>
            </a:pPr>
            <a:r>
              <a:rPr lang="en-US" sz="1400" dirty="0"/>
              <a:t>Though quite a few rows of data had Zero values but have been retained for continued flow</a:t>
            </a:r>
          </a:p>
          <a:p>
            <a:pPr marL="285750" indent="-285750">
              <a:lnSpc>
                <a:spcPct val="80000"/>
              </a:lnSpc>
              <a:spcBef>
                <a:spcPts val="1000"/>
              </a:spcBef>
              <a:buClr>
                <a:schemeClr val="accent1"/>
              </a:buClr>
              <a:buFont typeface="Wingdings" panose="05000000000000000000" pitchFamily="2" charset="2"/>
              <a:buChar char="Ø"/>
            </a:pPr>
            <a:r>
              <a:rPr lang="en-US" sz="1600" dirty="0"/>
              <a:t>Tabular Summary Data for analysis has been Created with MS Excel Pivot for -</a:t>
            </a:r>
          </a:p>
          <a:p>
            <a:pPr marL="742950" lvl="1" indent="-285750">
              <a:lnSpc>
                <a:spcPct val="80000"/>
              </a:lnSpc>
              <a:spcBef>
                <a:spcPts val="1000"/>
              </a:spcBef>
              <a:buClr>
                <a:schemeClr val="accent1"/>
              </a:buClr>
              <a:buFont typeface="Wingdings" panose="05000000000000000000" pitchFamily="2" charset="2"/>
              <a:buChar char="Ø"/>
            </a:pPr>
            <a:r>
              <a:rPr lang="en-US" sz="1400" dirty="0"/>
              <a:t>ABC v/s Other Company Sales State wise</a:t>
            </a:r>
          </a:p>
          <a:p>
            <a:pPr marL="742950" lvl="1" indent="-285750">
              <a:lnSpc>
                <a:spcPct val="80000"/>
              </a:lnSpc>
              <a:spcBef>
                <a:spcPts val="1000"/>
              </a:spcBef>
              <a:buClr>
                <a:schemeClr val="accent1"/>
              </a:buClr>
              <a:buFont typeface="Wingdings" panose="05000000000000000000" pitchFamily="2" charset="2"/>
              <a:buChar char="Ø"/>
            </a:pPr>
            <a:r>
              <a:rPr lang="en-US" sz="1400" dirty="0"/>
              <a:t>ABC v/s Others Pesticide Type Sales</a:t>
            </a:r>
          </a:p>
        </p:txBody>
      </p:sp>
      <p:sp>
        <p:nvSpPr>
          <p:cNvPr id="12" name="Slide Number Placeholder 11">
            <a:extLst>
              <a:ext uri="{FF2B5EF4-FFF2-40B4-BE49-F238E27FC236}">
                <a16:creationId xmlns:a16="http://schemas.microsoft.com/office/drawing/2014/main" id="{D018600D-466E-45C5-B369-2BDEBB965206}"/>
              </a:ext>
            </a:extLst>
          </p:cNvPr>
          <p:cNvSpPr>
            <a:spLocks noGrp="1"/>
          </p:cNvSpPr>
          <p:nvPr>
            <p:ph type="sldNum" sz="quarter" idx="12"/>
          </p:nvPr>
        </p:nvSpPr>
        <p:spPr/>
        <p:txBody>
          <a:bodyPr/>
          <a:lstStyle/>
          <a:p>
            <a:fld id="{34B7E4EF-A1BD-40F4-AB7B-04F084DD991D}" type="slidenum">
              <a:rPr lang="en-US" smtClean="0"/>
              <a:t>4</a:t>
            </a:fld>
            <a:endParaRPr lang="en-US" dirty="0"/>
          </a:p>
        </p:txBody>
      </p:sp>
    </p:spTree>
    <p:extLst>
      <p:ext uri="{BB962C8B-B14F-4D97-AF65-F5344CB8AC3E}">
        <p14:creationId xmlns:p14="http://schemas.microsoft.com/office/powerpoint/2010/main" val="21039612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8CE9A-1742-4ACD-A73A-3E152E94E1F8}"/>
              </a:ext>
            </a:extLst>
          </p:cNvPr>
          <p:cNvSpPr>
            <a:spLocks noGrp="1"/>
          </p:cNvSpPr>
          <p:nvPr>
            <p:ph type="title"/>
          </p:nvPr>
        </p:nvSpPr>
        <p:spPr>
          <a:xfrm>
            <a:off x="0" y="136526"/>
            <a:ext cx="12111788" cy="537160"/>
          </a:xfrm>
        </p:spPr>
        <p:txBody>
          <a:bodyPr>
            <a:normAutofit/>
          </a:bodyPr>
          <a:lstStyle/>
          <a:p>
            <a:pPr algn="ctr"/>
            <a:r>
              <a:rPr lang="en-IN" sz="3200" dirty="0"/>
              <a:t>State wise – Pesticide Sales Analysis</a:t>
            </a:r>
          </a:p>
        </p:txBody>
      </p:sp>
      <p:sp>
        <p:nvSpPr>
          <p:cNvPr id="7" name="Slide Number Placeholder 6">
            <a:extLst>
              <a:ext uri="{FF2B5EF4-FFF2-40B4-BE49-F238E27FC236}">
                <a16:creationId xmlns:a16="http://schemas.microsoft.com/office/drawing/2014/main" id="{FEDEC02D-93EF-4A6E-937A-4C66DECA06A0}"/>
              </a:ext>
            </a:extLst>
          </p:cNvPr>
          <p:cNvSpPr>
            <a:spLocks noGrp="1"/>
          </p:cNvSpPr>
          <p:nvPr>
            <p:ph type="sldNum" sz="quarter" idx="12"/>
          </p:nvPr>
        </p:nvSpPr>
        <p:spPr/>
        <p:txBody>
          <a:bodyPr/>
          <a:lstStyle/>
          <a:p>
            <a:fld id="{34B7E4EF-A1BD-40F4-AB7B-04F084DD991D}" type="slidenum">
              <a:rPr lang="en-US" smtClean="0"/>
              <a:t>5</a:t>
            </a:fld>
            <a:endParaRPr lang="en-US" dirty="0"/>
          </a:p>
        </p:txBody>
      </p:sp>
      <p:sp>
        <p:nvSpPr>
          <p:cNvPr id="3" name="TextBox 2">
            <a:extLst>
              <a:ext uri="{FF2B5EF4-FFF2-40B4-BE49-F238E27FC236}">
                <a16:creationId xmlns:a16="http://schemas.microsoft.com/office/drawing/2014/main" id="{41B89F2A-3145-431E-BFC9-11FC24DB8012}"/>
              </a:ext>
            </a:extLst>
          </p:cNvPr>
          <p:cNvSpPr txBox="1"/>
          <p:nvPr/>
        </p:nvSpPr>
        <p:spPr>
          <a:xfrm>
            <a:off x="443345" y="673685"/>
            <a:ext cx="5438295" cy="882486"/>
          </a:xfrm>
          <a:prstGeom prst="rect">
            <a:avLst/>
          </a:prstGeom>
          <a:noFill/>
        </p:spPr>
        <p:txBody>
          <a:bodyPr wrap="square" rtlCol="0">
            <a:spAutoFit/>
          </a:bodyPr>
          <a:lstStyle/>
          <a:p>
            <a:r>
              <a:rPr lang="en-IN" sz="1200" b="1" dirty="0">
                <a:latin typeface="Cambria" panose="02040503050406030204" pitchFamily="18" charset="0"/>
              </a:rPr>
              <a:t>State wise Sales</a:t>
            </a:r>
          </a:p>
          <a:p>
            <a:pPr marL="800100" lvl="1" indent="-342900">
              <a:lnSpc>
                <a:spcPct val="80000"/>
              </a:lnSpc>
              <a:spcBef>
                <a:spcPts val="1000"/>
              </a:spcBef>
              <a:buClr>
                <a:schemeClr val="accent1"/>
              </a:buClr>
              <a:buFont typeface="Wingdings" panose="05000000000000000000" pitchFamily="2" charset="2"/>
              <a:buChar char="Ø"/>
            </a:pPr>
            <a:r>
              <a:rPr lang="en-US" sz="1400" dirty="0"/>
              <a:t>Decreasing tend in consumption of pesticides in general</a:t>
            </a:r>
          </a:p>
          <a:p>
            <a:pPr marL="800100" lvl="1" indent="-342900">
              <a:lnSpc>
                <a:spcPct val="80000"/>
              </a:lnSpc>
              <a:spcBef>
                <a:spcPts val="1000"/>
              </a:spcBef>
              <a:buClr>
                <a:schemeClr val="accent1"/>
              </a:buClr>
              <a:buFont typeface="Wingdings" panose="05000000000000000000" pitchFamily="2" charset="2"/>
              <a:buChar char="Ø"/>
            </a:pPr>
            <a:r>
              <a:rPr lang="en-US" sz="1400" dirty="0"/>
              <a:t>Himachal and Uttarakhand have low sales value</a:t>
            </a:r>
          </a:p>
        </p:txBody>
      </p:sp>
      <p:grpSp>
        <p:nvGrpSpPr>
          <p:cNvPr id="16" name="Group 15">
            <a:extLst>
              <a:ext uri="{FF2B5EF4-FFF2-40B4-BE49-F238E27FC236}">
                <a16:creationId xmlns:a16="http://schemas.microsoft.com/office/drawing/2014/main" id="{63985499-4966-4347-B45C-1F38BAEA0DF7}"/>
              </a:ext>
            </a:extLst>
          </p:cNvPr>
          <p:cNvGrpSpPr/>
          <p:nvPr/>
        </p:nvGrpSpPr>
        <p:grpSpPr>
          <a:xfrm>
            <a:off x="1200424" y="1699921"/>
            <a:ext cx="3760282" cy="4656427"/>
            <a:chOff x="3199635" y="1699923"/>
            <a:chExt cx="3760282" cy="4656427"/>
          </a:xfrm>
        </p:grpSpPr>
        <p:pic>
          <p:nvPicPr>
            <p:cNvPr id="13" name="Picture 12">
              <a:extLst>
                <a:ext uri="{FF2B5EF4-FFF2-40B4-BE49-F238E27FC236}">
                  <a16:creationId xmlns:a16="http://schemas.microsoft.com/office/drawing/2014/main" id="{6638D7E7-20E7-43AC-89B4-6A62F49F2CB2}"/>
                </a:ext>
              </a:extLst>
            </p:cNvPr>
            <p:cNvPicPr>
              <a:picLocks noChangeAspect="1"/>
            </p:cNvPicPr>
            <p:nvPr/>
          </p:nvPicPr>
          <p:blipFill rotWithShape="1">
            <a:blip r:embed="rId2"/>
            <a:srcRect l="24145" t="17253" r="45014" b="11553"/>
            <a:stretch/>
          </p:blipFill>
          <p:spPr>
            <a:xfrm>
              <a:off x="3199635" y="1699923"/>
              <a:ext cx="3760282" cy="4656427"/>
            </a:xfrm>
            <a:prstGeom prst="rect">
              <a:avLst/>
            </a:prstGeom>
            <a:ln>
              <a:noFill/>
            </a:ln>
          </p:spPr>
        </p:pic>
        <p:pic>
          <p:nvPicPr>
            <p:cNvPr id="15" name="Picture 14">
              <a:extLst>
                <a:ext uri="{FF2B5EF4-FFF2-40B4-BE49-F238E27FC236}">
                  <a16:creationId xmlns:a16="http://schemas.microsoft.com/office/drawing/2014/main" id="{5849B8E6-7A87-4C80-8E6D-3382EEBA3DCB}"/>
                </a:ext>
              </a:extLst>
            </p:cNvPr>
            <p:cNvPicPr>
              <a:picLocks noChangeAspect="1"/>
            </p:cNvPicPr>
            <p:nvPr/>
          </p:nvPicPr>
          <p:blipFill rotWithShape="1">
            <a:blip r:embed="rId2"/>
            <a:srcRect l="89408" t="17657" b="68240"/>
            <a:stretch/>
          </p:blipFill>
          <p:spPr>
            <a:xfrm>
              <a:off x="5513709" y="1699923"/>
              <a:ext cx="1291389" cy="922422"/>
            </a:xfrm>
            <a:prstGeom prst="rect">
              <a:avLst/>
            </a:prstGeom>
            <a:ln>
              <a:noFill/>
            </a:ln>
          </p:spPr>
        </p:pic>
      </p:grpSp>
      <p:grpSp>
        <p:nvGrpSpPr>
          <p:cNvPr id="28" name="Group 27">
            <a:extLst>
              <a:ext uri="{FF2B5EF4-FFF2-40B4-BE49-F238E27FC236}">
                <a16:creationId xmlns:a16="http://schemas.microsoft.com/office/drawing/2014/main" id="{25A3258A-EEE8-4905-A2E9-EA2F349D671B}"/>
              </a:ext>
            </a:extLst>
          </p:cNvPr>
          <p:cNvGrpSpPr/>
          <p:nvPr/>
        </p:nvGrpSpPr>
        <p:grpSpPr>
          <a:xfrm>
            <a:off x="6988025" y="1699922"/>
            <a:ext cx="3639256" cy="4656427"/>
            <a:chOff x="6439747" y="1797784"/>
            <a:chExt cx="3639256" cy="4656427"/>
          </a:xfrm>
        </p:grpSpPr>
        <p:pic>
          <p:nvPicPr>
            <p:cNvPr id="24" name="Picture 23">
              <a:extLst>
                <a:ext uri="{FF2B5EF4-FFF2-40B4-BE49-F238E27FC236}">
                  <a16:creationId xmlns:a16="http://schemas.microsoft.com/office/drawing/2014/main" id="{37BEE4F5-CA8D-4225-AC5B-B6F6493450A7}"/>
                </a:ext>
              </a:extLst>
            </p:cNvPr>
            <p:cNvPicPr>
              <a:picLocks noChangeAspect="1"/>
            </p:cNvPicPr>
            <p:nvPr/>
          </p:nvPicPr>
          <p:blipFill rotWithShape="1">
            <a:blip r:embed="rId3"/>
            <a:srcRect l="24459" t="17981" r="44122" b="7082"/>
            <a:stretch/>
          </p:blipFill>
          <p:spPr>
            <a:xfrm>
              <a:off x="6439747" y="1797784"/>
              <a:ext cx="3639256" cy="4656427"/>
            </a:xfrm>
            <a:prstGeom prst="rect">
              <a:avLst/>
            </a:prstGeom>
            <a:ln>
              <a:noFill/>
            </a:ln>
          </p:spPr>
        </p:pic>
        <p:pic>
          <p:nvPicPr>
            <p:cNvPr id="26" name="Picture 25">
              <a:extLst>
                <a:ext uri="{FF2B5EF4-FFF2-40B4-BE49-F238E27FC236}">
                  <a16:creationId xmlns:a16="http://schemas.microsoft.com/office/drawing/2014/main" id="{A7EDF5FE-98C1-48ED-984B-DE37D3F48FEA}"/>
                </a:ext>
              </a:extLst>
            </p:cNvPr>
            <p:cNvPicPr>
              <a:picLocks noChangeAspect="1"/>
            </p:cNvPicPr>
            <p:nvPr/>
          </p:nvPicPr>
          <p:blipFill rotWithShape="1">
            <a:blip r:embed="rId3"/>
            <a:srcRect l="89408" t="17980" b="67917"/>
            <a:stretch/>
          </p:blipFill>
          <p:spPr>
            <a:xfrm>
              <a:off x="7229117" y="2236412"/>
              <a:ext cx="1291389" cy="922423"/>
            </a:xfrm>
            <a:prstGeom prst="rect">
              <a:avLst/>
            </a:prstGeom>
            <a:ln>
              <a:noFill/>
            </a:ln>
          </p:spPr>
        </p:pic>
      </p:grpSp>
      <p:sp>
        <p:nvSpPr>
          <p:cNvPr id="27" name="TextBox 26">
            <a:extLst>
              <a:ext uri="{FF2B5EF4-FFF2-40B4-BE49-F238E27FC236}">
                <a16:creationId xmlns:a16="http://schemas.microsoft.com/office/drawing/2014/main" id="{C4160EC1-000F-4807-9343-AE4A3164505C}"/>
              </a:ext>
            </a:extLst>
          </p:cNvPr>
          <p:cNvSpPr txBox="1"/>
          <p:nvPr/>
        </p:nvSpPr>
        <p:spPr>
          <a:xfrm>
            <a:off x="6310362" y="725681"/>
            <a:ext cx="5801426" cy="882486"/>
          </a:xfrm>
          <a:prstGeom prst="rect">
            <a:avLst/>
          </a:prstGeom>
          <a:noFill/>
        </p:spPr>
        <p:txBody>
          <a:bodyPr wrap="square" rtlCol="0">
            <a:spAutoFit/>
          </a:bodyPr>
          <a:lstStyle/>
          <a:p>
            <a:r>
              <a:rPr lang="en-US" sz="1200" b="1" dirty="0">
                <a:latin typeface="Cambria" panose="02040503050406030204" pitchFamily="18" charset="0"/>
              </a:rPr>
              <a:t>FG (Pesticide Type) Sales</a:t>
            </a:r>
          </a:p>
          <a:p>
            <a:pPr marL="800100" lvl="1" indent="-342900">
              <a:lnSpc>
                <a:spcPct val="80000"/>
              </a:lnSpc>
              <a:spcBef>
                <a:spcPts val="1000"/>
              </a:spcBef>
              <a:buClr>
                <a:schemeClr val="accent1"/>
              </a:buClr>
              <a:buFont typeface="Wingdings" panose="05000000000000000000" pitchFamily="2" charset="2"/>
              <a:buChar char="Ø"/>
            </a:pPr>
            <a:r>
              <a:rPr lang="en-US" sz="1400" dirty="0"/>
              <a:t>Insecticides sales amount to more than 50% of overall sales</a:t>
            </a:r>
          </a:p>
          <a:p>
            <a:pPr marL="800100" lvl="1" indent="-342900">
              <a:lnSpc>
                <a:spcPct val="80000"/>
              </a:lnSpc>
              <a:spcBef>
                <a:spcPts val="1000"/>
              </a:spcBef>
              <a:buClr>
                <a:schemeClr val="accent1"/>
              </a:buClr>
              <a:buFont typeface="Wingdings" panose="05000000000000000000" pitchFamily="2" charset="2"/>
              <a:buChar char="Ø"/>
            </a:pPr>
            <a:r>
              <a:rPr lang="en-US" sz="1400" dirty="0"/>
              <a:t>Bactericides’ sales is promising though its currently of low value</a:t>
            </a:r>
          </a:p>
        </p:txBody>
      </p:sp>
      <p:sp>
        <p:nvSpPr>
          <p:cNvPr id="14" name="TextBox 13">
            <a:extLst>
              <a:ext uri="{FF2B5EF4-FFF2-40B4-BE49-F238E27FC236}">
                <a16:creationId xmlns:a16="http://schemas.microsoft.com/office/drawing/2014/main" id="{1CAB0525-B668-4C31-8EF4-FD2893777970}"/>
              </a:ext>
            </a:extLst>
          </p:cNvPr>
          <p:cNvSpPr txBox="1"/>
          <p:nvPr/>
        </p:nvSpPr>
        <p:spPr>
          <a:xfrm>
            <a:off x="4805886" y="6490641"/>
            <a:ext cx="2500077" cy="276999"/>
          </a:xfrm>
          <a:prstGeom prst="rect">
            <a:avLst/>
          </a:prstGeom>
          <a:noFill/>
        </p:spPr>
        <p:txBody>
          <a:bodyPr wrap="square">
            <a:spAutoFit/>
          </a:bodyPr>
          <a:lstStyle/>
          <a:p>
            <a:r>
              <a:rPr lang="en-IN" sz="1200" b="1" dirty="0"/>
              <a:t>Source – Sales Data Excel Document</a:t>
            </a:r>
          </a:p>
        </p:txBody>
      </p:sp>
    </p:spTree>
    <p:extLst>
      <p:ext uri="{BB962C8B-B14F-4D97-AF65-F5344CB8AC3E}">
        <p14:creationId xmlns:p14="http://schemas.microsoft.com/office/powerpoint/2010/main" val="2713211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1B89F2A-3145-431E-BFC9-11FC24DB8012}"/>
              </a:ext>
            </a:extLst>
          </p:cNvPr>
          <p:cNvSpPr txBox="1"/>
          <p:nvPr/>
        </p:nvSpPr>
        <p:spPr>
          <a:xfrm>
            <a:off x="532726" y="739726"/>
            <a:ext cx="10977484" cy="1169551"/>
          </a:xfrm>
          <a:prstGeom prst="rect">
            <a:avLst/>
          </a:prstGeom>
          <a:noFill/>
        </p:spPr>
        <p:txBody>
          <a:bodyPr wrap="square" rtlCol="0">
            <a:spAutoFit/>
          </a:bodyPr>
          <a:lstStyle/>
          <a:p>
            <a:r>
              <a:rPr lang="en-US" sz="1400" b="1" i="0" u="none" strike="noStrike" baseline="0" dirty="0">
                <a:solidFill>
                  <a:srgbClr val="000000"/>
                </a:solidFill>
                <a:latin typeface="Cambria" panose="02040503050406030204" pitchFamily="18" charset="0"/>
              </a:rPr>
              <a:t>Top District Sales - </a:t>
            </a:r>
            <a:r>
              <a:rPr lang="en-US" sz="1400" b="0" i="0" u="none" strike="noStrike" baseline="0" dirty="0">
                <a:solidFill>
                  <a:srgbClr val="000000"/>
                </a:solidFill>
                <a:latin typeface="Cambria" panose="02040503050406030204" pitchFamily="18" charset="0"/>
              </a:rPr>
              <a:t>As we see in the graphs below, highest sales Districts </a:t>
            </a:r>
            <a:r>
              <a:rPr lang="en-US" sz="1400" dirty="0">
                <a:solidFill>
                  <a:srgbClr val="000000"/>
                </a:solidFill>
                <a:latin typeface="Cambria" panose="02040503050406030204" pitchFamily="18" charset="0"/>
              </a:rPr>
              <a:t>are in Punjab, Uttar Pradesh followed by Haryana and  Uttarakhand.  The sales here are in excess of 2,500,000 INR. Among these Firozabad, </a:t>
            </a:r>
            <a:r>
              <a:rPr lang="en-US" sz="1400" dirty="0" err="1">
                <a:solidFill>
                  <a:srgbClr val="000000"/>
                </a:solidFill>
                <a:latin typeface="Cambria" panose="02040503050406030204" pitchFamily="18" charset="0"/>
              </a:rPr>
              <a:t>Sangur</a:t>
            </a:r>
            <a:r>
              <a:rPr lang="en-US" sz="1400" dirty="0">
                <a:solidFill>
                  <a:srgbClr val="000000"/>
                </a:solidFill>
                <a:latin typeface="Cambria" panose="02040503050406030204" pitchFamily="18" charset="0"/>
              </a:rPr>
              <a:t> and Ludhiana are top 3.</a:t>
            </a:r>
          </a:p>
          <a:p>
            <a:endParaRPr lang="en-US" sz="1400" b="1" dirty="0">
              <a:solidFill>
                <a:srgbClr val="000000"/>
              </a:solidFill>
              <a:latin typeface="Cambria" panose="02040503050406030204" pitchFamily="18" charset="0"/>
            </a:endParaRPr>
          </a:p>
          <a:p>
            <a:r>
              <a:rPr lang="en-US" sz="1400" b="1" dirty="0">
                <a:solidFill>
                  <a:srgbClr val="000000"/>
                </a:solidFill>
                <a:latin typeface="Cambria" panose="02040503050406030204" pitchFamily="18" charset="0"/>
              </a:rPr>
              <a:t>Bottom District Sales - </a:t>
            </a:r>
            <a:r>
              <a:rPr lang="en-US" sz="1400" dirty="0">
                <a:solidFill>
                  <a:srgbClr val="000000"/>
                </a:solidFill>
                <a:latin typeface="Cambria" panose="02040503050406030204" pitchFamily="18" charset="0"/>
              </a:rPr>
              <a:t>We also see many districts in Himachal Pradesh and Uttarakhand where the sales is low. The figures are lesser than 75,000 INR. Indicating there needs to be focus to improve sales.</a:t>
            </a:r>
            <a:endParaRPr lang="en-US" sz="1400" b="0" i="0" u="none" strike="noStrike" baseline="0" dirty="0">
              <a:solidFill>
                <a:srgbClr val="000000"/>
              </a:solidFill>
              <a:latin typeface="Cambria" panose="02040503050406030204" pitchFamily="18" charset="0"/>
            </a:endParaRPr>
          </a:p>
        </p:txBody>
      </p:sp>
      <p:sp>
        <p:nvSpPr>
          <p:cNvPr id="14" name="Title 1">
            <a:extLst>
              <a:ext uri="{FF2B5EF4-FFF2-40B4-BE49-F238E27FC236}">
                <a16:creationId xmlns:a16="http://schemas.microsoft.com/office/drawing/2014/main" id="{D1DFAB38-5415-4A83-965B-D636F3E82976}"/>
              </a:ext>
            </a:extLst>
          </p:cNvPr>
          <p:cNvSpPr txBox="1">
            <a:spLocks/>
          </p:cNvSpPr>
          <p:nvPr/>
        </p:nvSpPr>
        <p:spPr>
          <a:xfrm>
            <a:off x="0" y="136526"/>
            <a:ext cx="12192000" cy="60320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IN" sz="3200" dirty="0">
                <a:solidFill>
                  <a:schemeClr val="tx1"/>
                </a:solidFill>
              </a:rPr>
              <a:t>District Sales Analysis</a:t>
            </a:r>
          </a:p>
        </p:txBody>
      </p:sp>
      <p:sp>
        <p:nvSpPr>
          <p:cNvPr id="8" name="Slide Number Placeholder 7">
            <a:extLst>
              <a:ext uri="{FF2B5EF4-FFF2-40B4-BE49-F238E27FC236}">
                <a16:creationId xmlns:a16="http://schemas.microsoft.com/office/drawing/2014/main" id="{5E021540-D7F8-4DB4-A5FA-AF2773B3EB5C}"/>
              </a:ext>
            </a:extLst>
          </p:cNvPr>
          <p:cNvSpPr>
            <a:spLocks noGrp="1"/>
          </p:cNvSpPr>
          <p:nvPr>
            <p:ph type="sldNum" sz="quarter" idx="12"/>
          </p:nvPr>
        </p:nvSpPr>
        <p:spPr/>
        <p:txBody>
          <a:bodyPr/>
          <a:lstStyle/>
          <a:p>
            <a:fld id="{34B7E4EF-A1BD-40F4-AB7B-04F084DD991D}" type="slidenum">
              <a:rPr lang="en-US" smtClean="0"/>
              <a:t>6</a:t>
            </a:fld>
            <a:endParaRPr lang="en-US" dirty="0"/>
          </a:p>
        </p:txBody>
      </p:sp>
      <p:grpSp>
        <p:nvGrpSpPr>
          <p:cNvPr id="17" name="Group 16">
            <a:extLst>
              <a:ext uri="{FF2B5EF4-FFF2-40B4-BE49-F238E27FC236}">
                <a16:creationId xmlns:a16="http://schemas.microsoft.com/office/drawing/2014/main" id="{EA83233D-6D79-4CE3-9809-08433850F2ED}"/>
              </a:ext>
            </a:extLst>
          </p:cNvPr>
          <p:cNvGrpSpPr/>
          <p:nvPr/>
        </p:nvGrpSpPr>
        <p:grpSpPr>
          <a:xfrm>
            <a:off x="532726" y="2388336"/>
            <a:ext cx="4993780" cy="3794821"/>
            <a:chOff x="2924432" y="1301578"/>
            <a:chExt cx="6491417" cy="4893276"/>
          </a:xfrm>
        </p:grpSpPr>
        <p:pic>
          <p:nvPicPr>
            <p:cNvPr id="13" name="Picture 12">
              <a:extLst>
                <a:ext uri="{FF2B5EF4-FFF2-40B4-BE49-F238E27FC236}">
                  <a16:creationId xmlns:a16="http://schemas.microsoft.com/office/drawing/2014/main" id="{626319A9-EB30-41FF-BC23-72D3EE6C47E9}"/>
                </a:ext>
              </a:extLst>
            </p:cNvPr>
            <p:cNvPicPr>
              <a:picLocks noChangeAspect="1"/>
            </p:cNvPicPr>
            <p:nvPr/>
          </p:nvPicPr>
          <p:blipFill rotWithShape="1">
            <a:blip r:embed="rId2"/>
            <a:srcRect l="23987" t="17473" r="22770" b="7712"/>
            <a:stretch/>
          </p:blipFill>
          <p:spPr>
            <a:xfrm>
              <a:off x="2924432" y="1301578"/>
              <a:ext cx="6491417" cy="4893276"/>
            </a:xfrm>
            <a:prstGeom prst="rect">
              <a:avLst/>
            </a:prstGeom>
          </p:spPr>
        </p:pic>
        <p:pic>
          <p:nvPicPr>
            <p:cNvPr id="16" name="Picture 15">
              <a:extLst>
                <a:ext uri="{FF2B5EF4-FFF2-40B4-BE49-F238E27FC236}">
                  <a16:creationId xmlns:a16="http://schemas.microsoft.com/office/drawing/2014/main" id="{A5E7F8DF-2CCB-4F14-856B-A00D4A175F00}"/>
                </a:ext>
              </a:extLst>
            </p:cNvPr>
            <p:cNvPicPr>
              <a:picLocks noChangeAspect="1"/>
            </p:cNvPicPr>
            <p:nvPr/>
          </p:nvPicPr>
          <p:blipFill rotWithShape="1">
            <a:blip r:embed="rId2"/>
            <a:srcRect l="89189" t="17473" r="473" b="70310"/>
            <a:stretch/>
          </p:blipFill>
          <p:spPr>
            <a:xfrm>
              <a:off x="7874131" y="1702743"/>
              <a:ext cx="1260389" cy="799071"/>
            </a:xfrm>
            <a:prstGeom prst="rect">
              <a:avLst/>
            </a:prstGeom>
          </p:spPr>
        </p:pic>
      </p:grpSp>
      <p:grpSp>
        <p:nvGrpSpPr>
          <p:cNvPr id="22" name="Group 21">
            <a:extLst>
              <a:ext uri="{FF2B5EF4-FFF2-40B4-BE49-F238E27FC236}">
                <a16:creationId xmlns:a16="http://schemas.microsoft.com/office/drawing/2014/main" id="{73BD6E85-8B00-4107-92BF-398EE4E57776}"/>
              </a:ext>
            </a:extLst>
          </p:cNvPr>
          <p:cNvGrpSpPr/>
          <p:nvPr/>
        </p:nvGrpSpPr>
        <p:grpSpPr>
          <a:xfrm>
            <a:off x="5816167" y="2388336"/>
            <a:ext cx="5843107" cy="3794821"/>
            <a:chOff x="2161904" y="1315453"/>
            <a:chExt cx="8842980" cy="4765440"/>
          </a:xfrm>
        </p:grpSpPr>
        <p:pic>
          <p:nvPicPr>
            <p:cNvPr id="19" name="Picture 18">
              <a:extLst>
                <a:ext uri="{FF2B5EF4-FFF2-40B4-BE49-F238E27FC236}">
                  <a16:creationId xmlns:a16="http://schemas.microsoft.com/office/drawing/2014/main" id="{C84B8464-CB9C-48A0-A57B-5F7A65CCB346}"/>
                </a:ext>
              </a:extLst>
            </p:cNvPr>
            <p:cNvPicPr>
              <a:picLocks noChangeAspect="1"/>
            </p:cNvPicPr>
            <p:nvPr/>
          </p:nvPicPr>
          <p:blipFill rotWithShape="1">
            <a:blip r:embed="rId3"/>
            <a:srcRect l="17731" t="17685" r="9737" b="9454"/>
            <a:stretch/>
          </p:blipFill>
          <p:spPr>
            <a:xfrm>
              <a:off x="2161904" y="1315453"/>
              <a:ext cx="8842980" cy="4765440"/>
            </a:xfrm>
            <a:prstGeom prst="rect">
              <a:avLst/>
            </a:prstGeom>
          </p:spPr>
        </p:pic>
        <p:pic>
          <p:nvPicPr>
            <p:cNvPr id="21" name="Picture 20">
              <a:extLst>
                <a:ext uri="{FF2B5EF4-FFF2-40B4-BE49-F238E27FC236}">
                  <a16:creationId xmlns:a16="http://schemas.microsoft.com/office/drawing/2014/main" id="{27AEB603-C936-4254-8B2D-D52814EC5303}"/>
                </a:ext>
              </a:extLst>
            </p:cNvPr>
            <p:cNvPicPr>
              <a:picLocks noChangeAspect="1"/>
            </p:cNvPicPr>
            <p:nvPr/>
          </p:nvPicPr>
          <p:blipFill rotWithShape="1">
            <a:blip r:embed="rId3"/>
            <a:srcRect l="93125" t="16827" b="72504"/>
            <a:stretch/>
          </p:blipFill>
          <p:spPr>
            <a:xfrm>
              <a:off x="4580094" y="2479397"/>
              <a:ext cx="838200" cy="697832"/>
            </a:xfrm>
            <a:prstGeom prst="rect">
              <a:avLst/>
            </a:prstGeom>
          </p:spPr>
        </p:pic>
      </p:grpSp>
      <p:sp>
        <p:nvSpPr>
          <p:cNvPr id="12" name="TextBox 11">
            <a:extLst>
              <a:ext uri="{FF2B5EF4-FFF2-40B4-BE49-F238E27FC236}">
                <a16:creationId xmlns:a16="http://schemas.microsoft.com/office/drawing/2014/main" id="{CC2E3378-3621-4A54-B284-15D3EF463530}"/>
              </a:ext>
            </a:extLst>
          </p:cNvPr>
          <p:cNvSpPr txBox="1"/>
          <p:nvPr/>
        </p:nvSpPr>
        <p:spPr>
          <a:xfrm>
            <a:off x="4775201" y="6508328"/>
            <a:ext cx="2638816" cy="276999"/>
          </a:xfrm>
          <a:prstGeom prst="rect">
            <a:avLst/>
          </a:prstGeom>
          <a:noFill/>
        </p:spPr>
        <p:txBody>
          <a:bodyPr wrap="square">
            <a:spAutoFit/>
          </a:bodyPr>
          <a:lstStyle/>
          <a:p>
            <a:r>
              <a:rPr lang="en-IN" sz="1200" b="1" dirty="0"/>
              <a:t>Source – Sales Data Excel Document</a:t>
            </a:r>
          </a:p>
        </p:txBody>
      </p:sp>
    </p:spTree>
    <p:extLst>
      <p:ext uri="{BB962C8B-B14F-4D97-AF65-F5344CB8AC3E}">
        <p14:creationId xmlns:p14="http://schemas.microsoft.com/office/powerpoint/2010/main" val="27783615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1B89F2A-3145-431E-BFC9-11FC24DB8012}"/>
              </a:ext>
            </a:extLst>
          </p:cNvPr>
          <p:cNvSpPr txBox="1"/>
          <p:nvPr/>
        </p:nvSpPr>
        <p:spPr>
          <a:xfrm>
            <a:off x="175492" y="951378"/>
            <a:ext cx="7332214" cy="954107"/>
          </a:xfrm>
          <a:prstGeom prst="rect">
            <a:avLst/>
          </a:prstGeom>
          <a:noFill/>
        </p:spPr>
        <p:txBody>
          <a:bodyPr wrap="square" rtlCol="0">
            <a:spAutoFit/>
          </a:bodyPr>
          <a:lstStyle/>
          <a:p>
            <a:r>
              <a:rPr lang="en-US" sz="1400" dirty="0">
                <a:solidFill>
                  <a:srgbClr val="000000"/>
                </a:solidFill>
              </a:rPr>
              <a:t>The below two graphs provide a holistic view of Population distribution figures for the five states. </a:t>
            </a:r>
            <a:endParaRPr lang="en-US" sz="1400" i="0" u="none" strike="noStrike" baseline="0" dirty="0">
              <a:solidFill>
                <a:srgbClr val="000000"/>
              </a:solidFill>
            </a:endParaRPr>
          </a:p>
          <a:p>
            <a:pPr>
              <a:buClr>
                <a:schemeClr val="accent1"/>
              </a:buClr>
            </a:pPr>
            <a:r>
              <a:rPr lang="en-US" sz="1400" b="1" i="0" u="none" strike="noStrike" baseline="0" dirty="0">
                <a:solidFill>
                  <a:srgbClr val="000000"/>
                </a:solidFill>
              </a:rPr>
              <a:t>State wise Population Distribution – </a:t>
            </a:r>
          </a:p>
          <a:p>
            <a:pPr marL="342900" indent="-342900">
              <a:buClr>
                <a:schemeClr val="accent1"/>
              </a:buClr>
              <a:buFont typeface="Wingdings" panose="05000000000000000000" pitchFamily="2" charset="2"/>
              <a:buChar char="Ø"/>
            </a:pPr>
            <a:r>
              <a:rPr lang="en-US" sz="1400" dirty="0">
                <a:solidFill>
                  <a:srgbClr val="000000"/>
                </a:solidFill>
              </a:rPr>
              <a:t>Uttar Pradesh is sum of all the states combined for both, Population and Area (KM</a:t>
            </a:r>
            <a:r>
              <a:rPr lang="en-US" sz="1400" baseline="30000" dirty="0">
                <a:solidFill>
                  <a:srgbClr val="000000"/>
                </a:solidFill>
              </a:rPr>
              <a:t>2</a:t>
            </a:r>
            <a:r>
              <a:rPr lang="en-US" sz="1400" dirty="0">
                <a:solidFill>
                  <a:srgbClr val="000000"/>
                </a:solidFill>
              </a:rPr>
              <a:t>)</a:t>
            </a:r>
          </a:p>
          <a:p>
            <a:pPr marL="342900" indent="-342900">
              <a:buClr>
                <a:schemeClr val="accent1"/>
              </a:buClr>
              <a:buFont typeface="Wingdings" panose="05000000000000000000" pitchFamily="2" charset="2"/>
              <a:buChar char="Ø"/>
            </a:pPr>
            <a:r>
              <a:rPr lang="en-US" sz="1400" dirty="0">
                <a:solidFill>
                  <a:srgbClr val="000000"/>
                </a:solidFill>
              </a:rPr>
              <a:t>The Urban Vs Rural population distribution is very high in UP and Himachal Pradesh </a:t>
            </a:r>
            <a:endParaRPr lang="en-US" sz="1400" b="0" i="0" u="none" strike="noStrike" baseline="0" dirty="0">
              <a:solidFill>
                <a:srgbClr val="000000"/>
              </a:solidFill>
            </a:endParaRPr>
          </a:p>
        </p:txBody>
      </p:sp>
      <p:sp>
        <p:nvSpPr>
          <p:cNvPr id="14" name="Title 1">
            <a:extLst>
              <a:ext uri="{FF2B5EF4-FFF2-40B4-BE49-F238E27FC236}">
                <a16:creationId xmlns:a16="http://schemas.microsoft.com/office/drawing/2014/main" id="{D1DFAB38-5415-4A83-965B-D636F3E82976}"/>
              </a:ext>
            </a:extLst>
          </p:cNvPr>
          <p:cNvSpPr txBox="1">
            <a:spLocks/>
          </p:cNvSpPr>
          <p:nvPr/>
        </p:nvSpPr>
        <p:spPr>
          <a:xfrm>
            <a:off x="0" y="41709"/>
            <a:ext cx="12111788" cy="702298"/>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IN" dirty="0">
                <a:solidFill>
                  <a:schemeClr val="tx1"/>
                </a:solidFill>
              </a:rPr>
              <a:t>State </a:t>
            </a:r>
            <a:r>
              <a:rPr lang="en-IN" sz="3200" dirty="0">
                <a:solidFill>
                  <a:schemeClr val="tx1"/>
                </a:solidFill>
              </a:rPr>
              <a:t>wise</a:t>
            </a:r>
            <a:r>
              <a:rPr lang="en-IN" dirty="0">
                <a:solidFill>
                  <a:schemeClr val="tx1"/>
                </a:solidFill>
              </a:rPr>
              <a:t> Population Analysis</a:t>
            </a:r>
          </a:p>
        </p:txBody>
      </p:sp>
      <p:grpSp>
        <p:nvGrpSpPr>
          <p:cNvPr id="8" name="Group 7">
            <a:extLst>
              <a:ext uri="{FF2B5EF4-FFF2-40B4-BE49-F238E27FC236}">
                <a16:creationId xmlns:a16="http://schemas.microsoft.com/office/drawing/2014/main" id="{21401347-400C-4CFF-822B-A32D34C02F58}"/>
              </a:ext>
            </a:extLst>
          </p:cNvPr>
          <p:cNvGrpSpPr/>
          <p:nvPr/>
        </p:nvGrpSpPr>
        <p:grpSpPr>
          <a:xfrm>
            <a:off x="446456" y="2302019"/>
            <a:ext cx="3494379" cy="3961437"/>
            <a:chOff x="577516" y="1836820"/>
            <a:chExt cx="4146884" cy="4780547"/>
          </a:xfrm>
        </p:grpSpPr>
        <p:pic>
          <p:nvPicPr>
            <p:cNvPr id="5" name="Picture 4">
              <a:extLst>
                <a:ext uri="{FF2B5EF4-FFF2-40B4-BE49-F238E27FC236}">
                  <a16:creationId xmlns:a16="http://schemas.microsoft.com/office/drawing/2014/main" id="{2BC17358-4688-4466-9F0F-F63DF04CF3E6}"/>
                </a:ext>
              </a:extLst>
            </p:cNvPr>
            <p:cNvPicPr>
              <a:picLocks noChangeAspect="1"/>
            </p:cNvPicPr>
            <p:nvPr/>
          </p:nvPicPr>
          <p:blipFill rotWithShape="1">
            <a:blip r:embed="rId2"/>
            <a:srcRect l="24474" t="18666" r="41513" b="8242"/>
            <a:stretch/>
          </p:blipFill>
          <p:spPr>
            <a:xfrm>
              <a:off x="577516" y="1836820"/>
              <a:ext cx="4146884" cy="4780547"/>
            </a:xfrm>
            <a:prstGeom prst="rect">
              <a:avLst/>
            </a:prstGeom>
          </p:spPr>
        </p:pic>
        <p:pic>
          <p:nvPicPr>
            <p:cNvPr id="7" name="Picture 6">
              <a:extLst>
                <a:ext uri="{FF2B5EF4-FFF2-40B4-BE49-F238E27FC236}">
                  <a16:creationId xmlns:a16="http://schemas.microsoft.com/office/drawing/2014/main" id="{FC90D4BB-1D29-49C0-9EC9-0B10407129E7}"/>
                </a:ext>
              </a:extLst>
            </p:cNvPr>
            <p:cNvPicPr>
              <a:picLocks noChangeAspect="1"/>
            </p:cNvPicPr>
            <p:nvPr/>
          </p:nvPicPr>
          <p:blipFill rotWithShape="1">
            <a:blip r:embed="rId2"/>
            <a:srcRect l="89145" t="17440" r="461" b="68334"/>
            <a:stretch/>
          </p:blipFill>
          <p:spPr>
            <a:xfrm>
              <a:off x="3043835" y="2283429"/>
              <a:ext cx="1047127" cy="768776"/>
            </a:xfrm>
            <a:prstGeom prst="rect">
              <a:avLst/>
            </a:prstGeom>
          </p:spPr>
        </p:pic>
      </p:grpSp>
      <p:grpSp>
        <p:nvGrpSpPr>
          <p:cNvPr id="15" name="Group 14">
            <a:extLst>
              <a:ext uri="{FF2B5EF4-FFF2-40B4-BE49-F238E27FC236}">
                <a16:creationId xmlns:a16="http://schemas.microsoft.com/office/drawing/2014/main" id="{C43C9D6E-B500-4414-ADFE-269E1FCCD670}"/>
              </a:ext>
            </a:extLst>
          </p:cNvPr>
          <p:cNvGrpSpPr/>
          <p:nvPr/>
        </p:nvGrpSpPr>
        <p:grpSpPr>
          <a:xfrm>
            <a:off x="7522649" y="951377"/>
            <a:ext cx="4237839" cy="4049635"/>
            <a:chOff x="2911642" y="1323474"/>
            <a:chExt cx="4002505" cy="4652210"/>
          </a:xfrm>
        </p:grpSpPr>
        <p:pic>
          <p:nvPicPr>
            <p:cNvPr id="11" name="Picture 10">
              <a:extLst>
                <a:ext uri="{FF2B5EF4-FFF2-40B4-BE49-F238E27FC236}">
                  <a16:creationId xmlns:a16="http://schemas.microsoft.com/office/drawing/2014/main" id="{855F1F26-35C6-44E8-BE24-582741D10815}"/>
                </a:ext>
              </a:extLst>
            </p:cNvPr>
            <p:cNvPicPr>
              <a:picLocks noChangeAspect="1"/>
            </p:cNvPicPr>
            <p:nvPr/>
          </p:nvPicPr>
          <p:blipFill rotWithShape="1">
            <a:blip r:embed="rId3"/>
            <a:srcRect l="23881" t="17808" r="43289" b="11062"/>
            <a:stretch/>
          </p:blipFill>
          <p:spPr>
            <a:xfrm>
              <a:off x="2911642" y="1323474"/>
              <a:ext cx="4002505" cy="4652210"/>
            </a:xfrm>
            <a:prstGeom prst="rect">
              <a:avLst/>
            </a:prstGeom>
          </p:spPr>
        </p:pic>
        <p:pic>
          <p:nvPicPr>
            <p:cNvPr id="13" name="Picture 12">
              <a:extLst>
                <a:ext uri="{FF2B5EF4-FFF2-40B4-BE49-F238E27FC236}">
                  <a16:creationId xmlns:a16="http://schemas.microsoft.com/office/drawing/2014/main" id="{770AA3F4-9326-4CE1-A4C6-5D5622701E8E}"/>
                </a:ext>
              </a:extLst>
            </p:cNvPr>
            <p:cNvPicPr>
              <a:picLocks noChangeAspect="1"/>
            </p:cNvPicPr>
            <p:nvPr/>
          </p:nvPicPr>
          <p:blipFill rotWithShape="1">
            <a:blip r:embed="rId3"/>
            <a:srcRect l="88487" t="17808" r="526" b="65513"/>
            <a:stretch/>
          </p:blipFill>
          <p:spPr>
            <a:xfrm>
              <a:off x="4611852" y="1872701"/>
              <a:ext cx="914653" cy="744867"/>
            </a:xfrm>
            <a:prstGeom prst="rect">
              <a:avLst/>
            </a:prstGeom>
          </p:spPr>
        </p:pic>
      </p:grpSp>
      <p:sp>
        <p:nvSpPr>
          <p:cNvPr id="25" name="TextBox 24">
            <a:extLst>
              <a:ext uri="{FF2B5EF4-FFF2-40B4-BE49-F238E27FC236}">
                <a16:creationId xmlns:a16="http://schemas.microsoft.com/office/drawing/2014/main" id="{5AB42B1F-9B55-4D1E-AAA7-F5A8EA2709A3}"/>
              </a:ext>
            </a:extLst>
          </p:cNvPr>
          <p:cNvSpPr txBox="1"/>
          <p:nvPr/>
        </p:nvSpPr>
        <p:spPr>
          <a:xfrm>
            <a:off x="4314228" y="5001012"/>
            <a:ext cx="7431316" cy="116955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00"/>
                </a:solidFill>
                <a:effectLst/>
                <a:uLnTx/>
                <a:uFillTx/>
                <a:ea typeface="+mn-ea"/>
                <a:cs typeface="+mn-cs"/>
              </a:rPr>
              <a:t>Population Growth and Population Share – Percentages – </a:t>
            </a:r>
            <a:r>
              <a:rPr kumimoji="0" lang="en-US" sz="1400" b="0" i="0" u="none" strike="noStrike" kern="1200" cap="none" spc="0" normalizeH="0" baseline="0" noProof="0" dirty="0">
                <a:ln>
                  <a:noFill/>
                </a:ln>
                <a:solidFill>
                  <a:srgbClr val="000000"/>
                </a:solidFill>
                <a:effectLst/>
                <a:uLnTx/>
                <a:uFillTx/>
                <a:ea typeface="+mn-ea"/>
                <a:cs typeface="+mn-cs"/>
              </a:rPr>
              <a:t>This metrics is based on the Decadal (2001-2012) growth. </a:t>
            </a:r>
            <a:endParaRPr lang="en-US" sz="1400" dirty="0">
              <a:solidFill>
                <a:srgbClr val="000000"/>
              </a:solidFill>
            </a:endParaRPr>
          </a:p>
          <a:p>
            <a:pPr marL="285750" marR="0" lvl="0" indent="-285750" algn="l" defTabSz="457200" rtl="0" eaLnBrk="1" fontAlgn="auto" latinLnBrk="0" hangingPunct="1">
              <a:lnSpc>
                <a:spcPct val="100000"/>
              </a:lnSpc>
              <a:spcBef>
                <a:spcPts val="0"/>
              </a:spcBef>
              <a:spcAft>
                <a:spcPts val="0"/>
              </a:spcAft>
              <a:buClr>
                <a:schemeClr val="accent1"/>
              </a:buClr>
              <a:buSzTx/>
              <a:buFont typeface="Wingdings" panose="05000000000000000000" pitchFamily="2" charset="2"/>
              <a:buChar char="Ø"/>
              <a:tabLst/>
              <a:defRPr/>
            </a:pPr>
            <a:r>
              <a:rPr kumimoji="0" lang="en-US" sz="1400" b="0" i="0" u="none" strike="noStrike" kern="1200" cap="none" spc="0" normalizeH="0" baseline="0" noProof="0" dirty="0">
                <a:ln>
                  <a:noFill/>
                </a:ln>
                <a:solidFill>
                  <a:srgbClr val="000000"/>
                </a:solidFill>
                <a:effectLst/>
                <a:uLnTx/>
                <a:uFillTx/>
                <a:ea typeface="+mn-ea"/>
                <a:cs typeface="+mn-cs"/>
              </a:rPr>
              <a:t>Uttar Pradesh has the highest growth compared to Himachal Pradesh, likewise, the National Share % variation</a:t>
            </a:r>
          </a:p>
          <a:p>
            <a:pPr marL="285750" marR="0" lvl="0" indent="-285750" algn="l" defTabSz="457200" rtl="0" eaLnBrk="1" fontAlgn="auto" latinLnBrk="0" hangingPunct="1">
              <a:lnSpc>
                <a:spcPct val="100000"/>
              </a:lnSpc>
              <a:spcBef>
                <a:spcPts val="0"/>
              </a:spcBef>
              <a:spcAft>
                <a:spcPts val="0"/>
              </a:spcAft>
              <a:buClr>
                <a:schemeClr val="accent1"/>
              </a:buClr>
              <a:buSzTx/>
              <a:buFont typeface="Wingdings" panose="05000000000000000000" pitchFamily="2" charset="2"/>
              <a:buChar char="Ø"/>
              <a:tabLst/>
              <a:defRPr/>
            </a:pPr>
            <a:r>
              <a:rPr kumimoji="0" lang="en-US" sz="1400" b="0" i="0" u="none" strike="noStrike" kern="1200" cap="none" spc="0" normalizeH="0" baseline="0" noProof="0" dirty="0">
                <a:ln>
                  <a:noFill/>
                </a:ln>
                <a:solidFill>
                  <a:srgbClr val="000000"/>
                </a:solidFill>
                <a:effectLst/>
                <a:uLnTx/>
                <a:uFillTx/>
                <a:ea typeface="+mn-ea"/>
                <a:cs typeface="+mn-cs"/>
              </a:rPr>
              <a:t>Population density wise Himachal Pradesh, Uttarakhand, Haryana are low</a:t>
            </a:r>
          </a:p>
        </p:txBody>
      </p:sp>
      <p:sp>
        <p:nvSpPr>
          <p:cNvPr id="6" name="Slide Number Placeholder 5">
            <a:extLst>
              <a:ext uri="{FF2B5EF4-FFF2-40B4-BE49-F238E27FC236}">
                <a16:creationId xmlns:a16="http://schemas.microsoft.com/office/drawing/2014/main" id="{B1B3D71A-3FF7-467A-8463-520678F742D8}"/>
              </a:ext>
            </a:extLst>
          </p:cNvPr>
          <p:cNvSpPr>
            <a:spLocks noGrp="1"/>
          </p:cNvSpPr>
          <p:nvPr>
            <p:ph type="sldNum" sz="quarter" idx="12"/>
          </p:nvPr>
        </p:nvSpPr>
        <p:spPr/>
        <p:txBody>
          <a:bodyPr/>
          <a:lstStyle/>
          <a:p>
            <a:fld id="{34B7E4EF-A1BD-40F4-AB7B-04F084DD991D}" type="slidenum">
              <a:rPr lang="en-US" smtClean="0"/>
              <a:t>7</a:t>
            </a:fld>
            <a:endParaRPr lang="en-US" dirty="0"/>
          </a:p>
        </p:txBody>
      </p:sp>
      <p:sp>
        <p:nvSpPr>
          <p:cNvPr id="9" name="Arrow: Chevron 8">
            <a:extLst>
              <a:ext uri="{FF2B5EF4-FFF2-40B4-BE49-F238E27FC236}">
                <a16:creationId xmlns:a16="http://schemas.microsoft.com/office/drawing/2014/main" id="{BB368E6D-8C96-418B-AE7D-A63FA5C919DB}"/>
              </a:ext>
            </a:extLst>
          </p:cNvPr>
          <p:cNvSpPr/>
          <p:nvPr/>
        </p:nvSpPr>
        <p:spPr>
          <a:xfrm>
            <a:off x="4110181" y="5001012"/>
            <a:ext cx="189103" cy="1136846"/>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7" name="Arrow: Chevron 16">
            <a:extLst>
              <a:ext uri="{FF2B5EF4-FFF2-40B4-BE49-F238E27FC236}">
                <a16:creationId xmlns:a16="http://schemas.microsoft.com/office/drawing/2014/main" id="{ED6F43A9-4243-4625-A36E-460E30241FDC}"/>
              </a:ext>
            </a:extLst>
          </p:cNvPr>
          <p:cNvSpPr/>
          <p:nvPr/>
        </p:nvSpPr>
        <p:spPr>
          <a:xfrm flipH="1">
            <a:off x="7354605" y="1056746"/>
            <a:ext cx="153100" cy="1039830"/>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8" name="TextBox 17">
            <a:extLst>
              <a:ext uri="{FF2B5EF4-FFF2-40B4-BE49-F238E27FC236}">
                <a16:creationId xmlns:a16="http://schemas.microsoft.com/office/drawing/2014/main" id="{022F6856-41E7-4081-814D-ED9A68C2ED60}"/>
              </a:ext>
            </a:extLst>
          </p:cNvPr>
          <p:cNvSpPr txBox="1"/>
          <p:nvPr/>
        </p:nvSpPr>
        <p:spPr>
          <a:xfrm>
            <a:off x="4815015" y="6537370"/>
            <a:ext cx="2539590" cy="276999"/>
          </a:xfrm>
          <a:prstGeom prst="rect">
            <a:avLst/>
          </a:prstGeom>
          <a:noFill/>
        </p:spPr>
        <p:txBody>
          <a:bodyPr wrap="square">
            <a:spAutoFit/>
          </a:bodyPr>
          <a:lstStyle/>
          <a:p>
            <a:r>
              <a:rPr lang="en-US" sz="1200" b="1" dirty="0">
                <a:solidFill>
                  <a:schemeClr val="tx1">
                    <a:lumMod val="75000"/>
                    <a:lumOff val="25000"/>
                  </a:schemeClr>
                </a:solidFill>
              </a:rPr>
              <a:t>Source: Census of India, Wikipedia </a:t>
            </a:r>
            <a:endParaRPr lang="en-IN" sz="1200" b="1" dirty="0"/>
          </a:p>
        </p:txBody>
      </p:sp>
    </p:spTree>
    <p:extLst>
      <p:ext uri="{BB962C8B-B14F-4D97-AF65-F5344CB8AC3E}">
        <p14:creationId xmlns:p14="http://schemas.microsoft.com/office/powerpoint/2010/main" val="14754309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1B89F2A-3145-431E-BFC9-11FC24DB8012}"/>
              </a:ext>
            </a:extLst>
          </p:cNvPr>
          <p:cNvSpPr txBox="1"/>
          <p:nvPr/>
        </p:nvSpPr>
        <p:spPr>
          <a:xfrm>
            <a:off x="445770" y="809922"/>
            <a:ext cx="6160170" cy="1415772"/>
          </a:xfrm>
          <a:prstGeom prst="rect">
            <a:avLst/>
          </a:prstGeom>
          <a:noFill/>
        </p:spPr>
        <p:txBody>
          <a:bodyPr wrap="square" rtlCol="0">
            <a:spAutoFit/>
          </a:bodyPr>
          <a:lstStyle/>
          <a:p>
            <a:r>
              <a:rPr lang="en-IN" sz="1600" b="1" i="0" u="none" strike="noStrike" baseline="0" dirty="0"/>
              <a:t>Month wise Pesticide consumption</a:t>
            </a:r>
            <a:endParaRPr lang="en-IN" sz="1600" b="0" i="0" u="none" strike="noStrike" baseline="0" dirty="0"/>
          </a:p>
          <a:p>
            <a:r>
              <a:rPr lang="en-US" sz="1400" b="0" i="0" u="none" strike="noStrike" baseline="0" dirty="0"/>
              <a:t>The </a:t>
            </a:r>
            <a:r>
              <a:rPr lang="en-US" sz="1400" dirty="0"/>
              <a:t>graph provides details of pesticides consumption for the specified years – </a:t>
            </a:r>
          </a:p>
          <a:p>
            <a:pPr marL="342900" indent="-342900">
              <a:buClr>
                <a:schemeClr val="accent1"/>
              </a:buClr>
              <a:buFont typeface="Wingdings" panose="05000000000000000000" pitchFamily="2" charset="2"/>
              <a:buChar char="Ø"/>
            </a:pPr>
            <a:r>
              <a:rPr lang="en-US" sz="1400" b="1" dirty="0"/>
              <a:t>Kharif</a:t>
            </a:r>
            <a:r>
              <a:rPr lang="en-US" sz="1400" dirty="0"/>
              <a:t> Jun to September cycle we see marginal increase from the pre-monsoon season</a:t>
            </a:r>
          </a:p>
          <a:p>
            <a:pPr marL="342900" indent="-342900">
              <a:buClr>
                <a:schemeClr val="accent1"/>
              </a:buClr>
              <a:buFont typeface="Wingdings" panose="05000000000000000000" pitchFamily="2" charset="2"/>
              <a:buChar char="Ø"/>
            </a:pPr>
            <a:r>
              <a:rPr lang="en-US" sz="1400" b="1" dirty="0"/>
              <a:t>Rabi</a:t>
            </a:r>
            <a:r>
              <a:rPr lang="en-US" sz="1400" dirty="0"/>
              <a:t> cycle Nov to Jan we see the Kharif sales being surpassed dipping there after</a:t>
            </a:r>
            <a:endParaRPr lang="en-US" sz="1400" b="0" i="0" u="none" strike="noStrike" baseline="0" dirty="0"/>
          </a:p>
        </p:txBody>
      </p:sp>
      <p:sp>
        <p:nvSpPr>
          <p:cNvPr id="7" name="Title 1">
            <a:extLst>
              <a:ext uri="{FF2B5EF4-FFF2-40B4-BE49-F238E27FC236}">
                <a16:creationId xmlns:a16="http://schemas.microsoft.com/office/drawing/2014/main" id="{D3348AA6-7055-4BF4-BBF3-496314947C15}"/>
              </a:ext>
            </a:extLst>
          </p:cNvPr>
          <p:cNvSpPr>
            <a:spLocks noGrp="1"/>
          </p:cNvSpPr>
          <p:nvPr>
            <p:ph type="title"/>
          </p:nvPr>
        </p:nvSpPr>
        <p:spPr>
          <a:xfrm>
            <a:off x="0" y="127433"/>
            <a:ext cx="12192000" cy="735120"/>
          </a:xfrm>
        </p:spPr>
        <p:txBody>
          <a:bodyPr>
            <a:normAutofit/>
          </a:bodyPr>
          <a:lstStyle/>
          <a:p>
            <a:pPr algn="ctr" defTabSz="457200"/>
            <a:r>
              <a:rPr lang="en-IN" sz="3200" dirty="0"/>
              <a:t>Other factors – Month consumption details</a:t>
            </a:r>
          </a:p>
        </p:txBody>
      </p:sp>
      <p:sp>
        <p:nvSpPr>
          <p:cNvPr id="6" name="Slide Number Placeholder 5">
            <a:extLst>
              <a:ext uri="{FF2B5EF4-FFF2-40B4-BE49-F238E27FC236}">
                <a16:creationId xmlns:a16="http://schemas.microsoft.com/office/drawing/2014/main" id="{C101A8A4-C15B-4B24-BEFE-84E42632BE8E}"/>
              </a:ext>
            </a:extLst>
          </p:cNvPr>
          <p:cNvSpPr>
            <a:spLocks noGrp="1"/>
          </p:cNvSpPr>
          <p:nvPr>
            <p:ph type="sldNum" sz="quarter" idx="12"/>
          </p:nvPr>
        </p:nvSpPr>
        <p:spPr/>
        <p:txBody>
          <a:bodyPr/>
          <a:lstStyle/>
          <a:p>
            <a:fld id="{34B7E4EF-A1BD-40F4-AB7B-04F084DD991D}" type="slidenum">
              <a:rPr lang="en-US" smtClean="0">
                <a:solidFill>
                  <a:schemeClr val="tx1"/>
                </a:solidFill>
              </a:rPr>
              <a:t>8</a:t>
            </a:fld>
            <a:endParaRPr lang="en-US" dirty="0">
              <a:solidFill>
                <a:schemeClr val="tx1"/>
              </a:solidFill>
            </a:endParaRPr>
          </a:p>
        </p:txBody>
      </p:sp>
      <p:grpSp>
        <p:nvGrpSpPr>
          <p:cNvPr id="15" name="Group 14">
            <a:extLst>
              <a:ext uri="{FF2B5EF4-FFF2-40B4-BE49-F238E27FC236}">
                <a16:creationId xmlns:a16="http://schemas.microsoft.com/office/drawing/2014/main" id="{9D449D08-A6E2-4829-ADB0-76BA21389E03}"/>
              </a:ext>
            </a:extLst>
          </p:cNvPr>
          <p:cNvGrpSpPr/>
          <p:nvPr/>
        </p:nvGrpSpPr>
        <p:grpSpPr>
          <a:xfrm>
            <a:off x="6849979" y="936687"/>
            <a:ext cx="4285597" cy="3739115"/>
            <a:chOff x="6785810" y="1214537"/>
            <a:chExt cx="4720983" cy="4428925"/>
          </a:xfrm>
        </p:grpSpPr>
        <p:pic>
          <p:nvPicPr>
            <p:cNvPr id="12" name="Picture 11">
              <a:extLst>
                <a:ext uri="{FF2B5EF4-FFF2-40B4-BE49-F238E27FC236}">
                  <a16:creationId xmlns:a16="http://schemas.microsoft.com/office/drawing/2014/main" id="{2655250C-1F8A-4950-812B-D2E609FB6FAD}"/>
                </a:ext>
              </a:extLst>
            </p:cNvPr>
            <p:cNvPicPr>
              <a:picLocks noChangeAspect="1"/>
            </p:cNvPicPr>
            <p:nvPr/>
          </p:nvPicPr>
          <p:blipFill rotWithShape="1">
            <a:blip r:embed="rId2"/>
            <a:srcRect l="21908" t="18176" r="35000" b="6467"/>
            <a:stretch/>
          </p:blipFill>
          <p:spPr>
            <a:xfrm>
              <a:off x="6785810" y="1214537"/>
              <a:ext cx="4720983" cy="4428925"/>
            </a:xfrm>
            <a:prstGeom prst="rect">
              <a:avLst/>
            </a:prstGeom>
          </p:spPr>
        </p:pic>
        <p:pic>
          <p:nvPicPr>
            <p:cNvPr id="14" name="Picture 13">
              <a:extLst>
                <a:ext uri="{FF2B5EF4-FFF2-40B4-BE49-F238E27FC236}">
                  <a16:creationId xmlns:a16="http://schemas.microsoft.com/office/drawing/2014/main" id="{8B28D023-1F0B-4740-AB49-E0EFCB7045F2}"/>
                </a:ext>
              </a:extLst>
            </p:cNvPr>
            <p:cNvPicPr>
              <a:picLocks noChangeAspect="1"/>
            </p:cNvPicPr>
            <p:nvPr/>
          </p:nvPicPr>
          <p:blipFill rotWithShape="1">
            <a:blip r:embed="rId2"/>
            <a:srcRect l="89439" t="17440" b="70419"/>
            <a:stretch/>
          </p:blipFill>
          <p:spPr>
            <a:xfrm>
              <a:off x="7752119" y="1735938"/>
              <a:ext cx="1287608" cy="794084"/>
            </a:xfrm>
            <a:prstGeom prst="rect">
              <a:avLst/>
            </a:prstGeom>
          </p:spPr>
        </p:pic>
      </p:grpSp>
      <p:grpSp>
        <p:nvGrpSpPr>
          <p:cNvPr id="25" name="Group 24">
            <a:extLst>
              <a:ext uri="{FF2B5EF4-FFF2-40B4-BE49-F238E27FC236}">
                <a16:creationId xmlns:a16="http://schemas.microsoft.com/office/drawing/2014/main" id="{0770EF05-D7CE-4379-8565-370F7C20E725}"/>
              </a:ext>
            </a:extLst>
          </p:cNvPr>
          <p:cNvGrpSpPr/>
          <p:nvPr/>
        </p:nvGrpSpPr>
        <p:grpSpPr>
          <a:xfrm>
            <a:off x="509938" y="2417303"/>
            <a:ext cx="3829451" cy="3423329"/>
            <a:chOff x="2582778" y="1138989"/>
            <a:chExt cx="5233509" cy="4948990"/>
          </a:xfrm>
        </p:grpSpPr>
        <p:pic>
          <p:nvPicPr>
            <p:cNvPr id="22" name="Picture 21">
              <a:extLst>
                <a:ext uri="{FF2B5EF4-FFF2-40B4-BE49-F238E27FC236}">
                  <a16:creationId xmlns:a16="http://schemas.microsoft.com/office/drawing/2014/main" id="{0023CF35-570A-4E65-B8D8-AD5401D0F2F3}"/>
                </a:ext>
              </a:extLst>
            </p:cNvPr>
            <p:cNvPicPr>
              <a:picLocks noChangeAspect="1"/>
            </p:cNvPicPr>
            <p:nvPr/>
          </p:nvPicPr>
          <p:blipFill rotWithShape="1">
            <a:blip r:embed="rId3"/>
            <a:srcRect l="21185" t="16608" r="35889" b="11228"/>
            <a:stretch/>
          </p:blipFill>
          <p:spPr>
            <a:xfrm>
              <a:off x="2582778" y="1138989"/>
              <a:ext cx="5233509" cy="4948990"/>
            </a:xfrm>
            <a:prstGeom prst="rect">
              <a:avLst/>
            </a:prstGeom>
          </p:spPr>
        </p:pic>
        <p:pic>
          <p:nvPicPr>
            <p:cNvPr id="24" name="Picture 23">
              <a:extLst>
                <a:ext uri="{FF2B5EF4-FFF2-40B4-BE49-F238E27FC236}">
                  <a16:creationId xmlns:a16="http://schemas.microsoft.com/office/drawing/2014/main" id="{EF63CA5E-E6BF-49AC-824C-BC88322F5298}"/>
                </a:ext>
              </a:extLst>
            </p:cNvPr>
            <p:cNvPicPr>
              <a:picLocks noChangeAspect="1"/>
            </p:cNvPicPr>
            <p:nvPr/>
          </p:nvPicPr>
          <p:blipFill rotWithShape="1">
            <a:blip r:embed="rId3"/>
            <a:srcRect l="89439" t="16608" b="71345"/>
            <a:stretch/>
          </p:blipFill>
          <p:spPr>
            <a:xfrm>
              <a:off x="4331370" y="1965157"/>
              <a:ext cx="1287608" cy="826169"/>
            </a:xfrm>
            <a:prstGeom prst="rect">
              <a:avLst/>
            </a:prstGeom>
          </p:spPr>
        </p:pic>
      </p:grpSp>
      <p:sp>
        <p:nvSpPr>
          <p:cNvPr id="30" name="TextBox 29">
            <a:extLst>
              <a:ext uri="{FF2B5EF4-FFF2-40B4-BE49-F238E27FC236}">
                <a16:creationId xmlns:a16="http://schemas.microsoft.com/office/drawing/2014/main" id="{5046FEFA-0A22-451B-9979-535D41E8537E}"/>
              </a:ext>
            </a:extLst>
          </p:cNvPr>
          <p:cNvSpPr txBox="1"/>
          <p:nvPr/>
        </p:nvSpPr>
        <p:spPr>
          <a:xfrm>
            <a:off x="445769" y="5970200"/>
            <a:ext cx="3324126"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dirty="0">
                <a:ln>
                  <a:noFill/>
                </a:ln>
                <a:effectLst/>
                <a:uLnTx/>
                <a:uFillTx/>
                <a:latin typeface="Cambria" panose="02040503050406030204" pitchFamily="18" charset="0"/>
                <a:ea typeface="+mn-ea"/>
                <a:cs typeface="+mn-cs"/>
              </a:rPr>
              <a:t>Note: 2018 Feb and Mar data was not available.</a:t>
            </a:r>
          </a:p>
        </p:txBody>
      </p:sp>
      <p:sp>
        <p:nvSpPr>
          <p:cNvPr id="31" name="TextBox 30">
            <a:extLst>
              <a:ext uri="{FF2B5EF4-FFF2-40B4-BE49-F238E27FC236}">
                <a16:creationId xmlns:a16="http://schemas.microsoft.com/office/drawing/2014/main" id="{DA8DA0CE-5152-4931-BCE2-3D5E84FE83E3}"/>
              </a:ext>
            </a:extLst>
          </p:cNvPr>
          <p:cNvSpPr txBox="1"/>
          <p:nvPr/>
        </p:nvSpPr>
        <p:spPr>
          <a:xfrm>
            <a:off x="4795535" y="4744401"/>
            <a:ext cx="6340041" cy="954107"/>
          </a:xfrm>
          <a:prstGeom prst="rect">
            <a:avLst/>
          </a:prstGeom>
          <a:noFill/>
        </p:spPr>
        <p:txBody>
          <a:bodyPr wrap="square" rtlCol="0">
            <a:spAutoFit/>
          </a:bodyPr>
          <a:lstStyle/>
          <a:p>
            <a:r>
              <a:rPr lang="en-US" sz="1400" b="1" dirty="0"/>
              <a:t>Month wise </a:t>
            </a:r>
            <a:r>
              <a:rPr lang="en-US" sz="1400" b="1" i="0" strike="noStrike" baseline="0" dirty="0"/>
              <a:t>Pesticide Type Consumption</a:t>
            </a:r>
            <a:endParaRPr lang="en-US" sz="1400" b="1" dirty="0"/>
          </a:p>
          <a:p>
            <a:pPr marL="342900" indent="-342900">
              <a:buClr>
                <a:schemeClr val="accent1"/>
              </a:buClr>
              <a:buFont typeface="Wingdings" panose="05000000000000000000" pitchFamily="2" charset="2"/>
              <a:buChar char="Ø"/>
            </a:pPr>
            <a:r>
              <a:rPr lang="en-US" sz="1400" dirty="0"/>
              <a:t>Corresponding to be Kharif/Rabi cycles we have marginal increase of Insecticides and Rodenticides</a:t>
            </a:r>
          </a:p>
          <a:p>
            <a:pPr marL="342900" indent="-342900">
              <a:buClr>
                <a:schemeClr val="accent1"/>
              </a:buClr>
              <a:buFont typeface="Wingdings" panose="05000000000000000000" pitchFamily="2" charset="2"/>
              <a:buChar char="Ø"/>
            </a:pPr>
            <a:r>
              <a:rPr lang="en-US" sz="1400" dirty="0"/>
              <a:t>The volume sales for Herbicides and Bactericides remains constant though</a:t>
            </a:r>
          </a:p>
        </p:txBody>
      </p:sp>
      <p:sp>
        <p:nvSpPr>
          <p:cNvPr id="32" name="Arrow: Chevron 31">
            <a:extLst>
              <a:ext uri="{FF2B5EF4-FFF2-40B4-BE49-F238E27FC236}">
                <a16:creationId xmlns:a16="http://schemas.microsoft.com/office/drawing/2014/main" id="{754618AA-BA39-459B-A7AA-EA8A0E60CFB6}"/>
              </a:ext>
            </a:extLst>
          </p:cNvPr>
          <p:cNvSpPr/>
          <p:nvPr/>
        </p:nvSpPr>
        <p:spPr>
          <a:xfrm>
            <a:off x="4444288" y="4759538"/>
            <a:ext cx="183130" cy="1081094"/>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3" name="Arrow: Chevron 32">
            <a:extLst>
              <a:ext uri="{FF2B5EF4-FFF2-40B4-BE49-F238E27FC236}">
                <a16:creationId xmlns:a16="http://schemas.microsoft.com/office/drawing/2014/main" id="{5D7AD435-0B53-4119-868D-46F5DEFEFC17}"/>
              </a:ext>
            </a:extLst>
          </p:cNvPr>
          <p:cNvSpPr/>
          <p:nvPr/>
        </p:nvSpPr>
        <p:spPr>
          <a:xfrm flipH="1">
            <a:off x="6687127" y="936686"/>
            <a:ext cx="162852" cy="1110598"/>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6" name="TextBox 15">
            <a:extLst>
              <a:ext uri="{FF2B5EF4-FFF2-40B4-BE49-F238E27FC236}">
                <a16:creationId xmlns:a16="http://schemas.microsoft.com/office/drawing/2014/main" id="{661AE241-2402-4569-804F-9DB7BB001180}"/>
              </a:ext>
            </a:extLst>
          </p:cNvPr>
          <p:cNvSpPr txBox="1"/>
          <p:nvPr/>
        </p:nvSpPr>
        <p:spPr>
          <a:xfrm>
            <a:off x="5037052" y="6538912"/>
            <a:ext cx="2494547" cy="276999"/>
          </a:xfrm>
          <a:prstGeom prst="rect">
            <a:avLst/>
          </a:prstGeom>
          <a:noFill/>
        </p:spPr>
        <p:txBody>
          <a:bodyPr wrap="square">
            <a:spAutoFit/>
          </a:bodyPr>
          <a:lstStyle/>
          <a:p>
            <a:r>
              <a:rPr lang="en-IN" sz="1200" b="1" dirty="0"/>
              <a:t>Source – Sales Data Excel Document</a:t>
            </a:r>
          </a:p>
        </p:txBody>
      </p:sp>
    </p:spTree>
    <p:extLst>
      <p:ext uri="{BB962C8B-B14F-4D97-AF65-F5344CB8AC3E}">
        <p14:creationId xmlns:p14="http://schemas.microsoft.com/office/powerpoint/2010/main" val="40784091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C188C303-15F6-485F-A722-6434FD3898CE}"/>
              </a:ext>
            </a:extLst>
          </p:cNvPr>
          <p:cNvSpPr txBox="1">
            <a:spLocks/>
          </p:cNvSpPr>
          <p:nvPr/>
        </p:nvSpPr>
        <p:spPr>
          <a:xfrm>
            <a:off x="0" y="127432"/>
            <a:ext cx="12192000" cy="602242"/>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IN" sz="3200" dirty="0">
                <a:solidFill>
                  <a:schemeClr val="tx1"/>
                </a:solidFill>
              </a:rPr>
              <a:t>Other factors – Competition</a:t>
            </a:r>
          </a:p>
        </p:txBody>
      </p:sp>
      <p:sp>
        <p:nvSpPr>
          <p:cNvPr id="5" name="Slide Number Placeholder 4">
            <a:extLst>
              <a:ext uri="{FF2B5EF4-FFF2-40B4-BE49-F238E27FC236}">
                <a16:creationId xmlns:a16="http://schemas.microsoft.com/office/drawing/2014/main" id="{85593564-76C9-42C2-9F39-DA36A8EB4CED}"/>
              </a:ext>
            </a:extLst>
          </p:cNvPr>
          <p:cNvSpPr>
            <a:spLocks noGrp="1"/>
          </p:cNvSpPr>
          <p:nvPr>
            <p:ph type="sldNum" sz="quarter" idx="12"/>
          </p:nvPr>
        </p:nvSpPr>
        <p:spPr/>
        <p:txBody>
          <a:bodyPr/>
          <a:lstStyle/>
          <a:p>
            <a:fld id="{34B7E4EF-A1BD-40F4-AB7B-04F084DD991D}" type="slidenum">
              <a:rPr lang="en-US" smtClean="0"/>
              <a:t>9</a:t>
            </a:fld>
            <a:endParaRPr lang="en-US" dirty="0"/>
          </a:p>
        </p:txBody>
      </p:sp>
      <p:grpSp>
        <p:nvGrpSpPr>
          <p:cNvPr id="26" name="Group 25">
            <a:extLst>
              <a:ext uri="{FF2B5EF4-FFF2-40B4-BE49-F238E27FC236}">
                <a16:creationId xmlns:a16="http://schemas.microsoft.com/office/drawing/2014/main" id="{FEF5539B-B22A-4BDC-9A3A-620C84C3325F}"/>
              </a:ext>
            </a:extLst>
          </p:cNvPr>
          <p:cNvGrpSpPr/>
          <p:nvPr/>
        </p:nvGrpSpPr>
        <p:grpSpPr>
          <a:xfrm>
            <a:off x="7491663" y="778607"/>
            <a:ext cx="4190399" cy="4067978"/>
            <a:chOff x="2598821" y="1307432"/>
            <a:chExt cx="5526506" cy="4900863"/>
          </a:xfrm>
        </p:grpSpPr>
        <p:pic>
          <p:nvPicPr>
            <p:cNvPr id="23" name="Picture 22">
              <a:extLst>
                <a:ext uri="{FF2B5EF4-FFF2-40B4-BE49-F238E27FC236}">
                  <a16:creationId xmlns:a16="http://schemas.microsoft.com/office/drawing/2014/main" id="{2BFBEADD-733C-40A0-A4B7-EF1A8BC45280}"/>
                </a:ext>
              </a:extLst>
            </p:cNvPr>
            <p:cNvPicPr>
              <a:picLocks noChangeAspect="1"/>
            </p:cNvPicPr>
            <p:nvPr/>
          </p:nvPicPr>
          <p:blipFill rotWithShape="1">
            <a:blip r:embed="rId2"/>
            <a:srcRect l="21582" t="17503" r="33242" b="7820"/>
            <a:stretch/>
          </p:blipFill>
          <p:spPr>
            <a:xfrm>
              <a:off x="2598821" y="1307432"/>
              <a:ext cx="5526506" cy="4900863"/>
            </a:xfrm>
            <a:prstGeom prst="rect">
              <a:avLst/>
            </a:prstGeom>
          </p:spPr>
        </p:pic>
        <p:pic>
          <p:nvPicPr>
            <p:cNvPr id="25" name="Picture 24">
              <a:extLst>
                <a:ext uri="{FF2B5EF4-FFF2-40B4-BE49-F238E27FC236}">
                  <a16:creationId xmlns:a16="http://schemas.microsoft.com/office/drawing/2014/main" id="{4D42A502-BB3F-429B-AC8D-C910065023BC}"/>
                </a:ext>
              </a:extLst>
            </p:cNvPr>
            <p:cNvPicPr>
              <a:picLocks noChangeAspect="1"/>
            </p:cNvPicPr>
            <p:nvPr/>
          </p:nvPicPr>
          <p:blipFill rotWithShape="1">
            <a:blip r:embed="rId2"/>
            <a:srcRect l="89145" t="16704" b="73853"/>
            <a:stretch/>
          </p:blipFill>
          <p:spPr>
            <a:xfrm>
              <a:off x="6633410" y="2037370"/>
              <a:ext cx="1323474" cy="617621"/>
            </a:xfrm>
            <a:prstGeom prst="rect">
              <a:avLst/>
            </a:prstGeom>
          </p:spPr>
        </p:pic>
      </p:grpSp>
      <p:sp>
        <p:nvSpPr>
          <p:cNvPr id="28" name="TextBox 27">
            <a:extLst>
              <a:ext uri="{FF2B5EF4-FFF2-40B4-BE49-F238E27FC236}">
                <a16:creationId xmlns:a16="http://schemas.microsoft.com/office/drawing/2014/main" id="{20E9C016-1649-45C7-BF61-10E55AE6BB63}"/>
              </a:ext>
            </a:extLst>
          </p:cNvPr>
          <p:cNvSpPr txBox="1"/>
          <p:nvPr/>
        </p:nvSpPr>
        <p:spPr>
          <a:xfrm>
            <a:off x="509938" y="770697"/>
            <a:ext cx="6572975" cy="984885"/>
          </a:xfrm>
          <a:prstGeom prst="rect">
            <a:avLst/>
          </a:prstGeom>
          <a:noFill/>
        </p:spPr>
        <p:txBody>
          <a:bodyPr wrap="square" rtlCol="0">
            <a:spAutoFit/>
          </a:bodyPr>
          <a:lstStyle/>
          <a:p>
            <a:r>
              <a:rPr lang="en-IN" sz="1600" b="1" dirty="0"/>
              <a:t>State wise Competition</a:t>
            </a:r>
          </a:p>
          <a:p>
            <a:pPr marL="342900" indent="-342900">
              <a:buClr>
                <a:schemeClr val="accent1"/>
              </a:buClr>
              <a:buFont typeface="Wingdings" panose="05000000000000000000" pitchFamily="2" charset="2"/>
              <a:buChar char="Ø"/>
            </a:pPr>
            <a:r>
              <a:rPr lang="en-IN" sz="1400" dirty="0"/>
              <a:t>Uttarakhand, Himachal Pradesh has equal market share</a:t>
            </a:r>
          </a:p>
          <a:p>
            <a:pPr marL="342900" indent="-342900">
              <a:buClr>
                <a:schemeClr val="accent1"/>
              </a:buClr>
              <a:buFont typeface="Wingdings" panose="05000000000000000000" pitchFamily="2" charset="2"/>
              <a:buChar char="Ø"/>
            </a:pPr>
            <a:r>
              <a:rPr lang="en-IN" sz="1400" dirty="0"/>
              <a:t>Uttar Pradesh has satisfactory share and opportunity to improve for Punjab and Haryana</a:t>
            </a:r>
          </a:p>
        </p:txBody>
      </p:sp>
      <p:sp>
        <p:nvSpPr>
          <p:cNvPr id="29" name="Arrow: Chevron 28">
            <a:extLst>
              <a:ext uri="{FF2B5EF4-FFF2-40B4-BE49-F238E27FC236}">
                <a16:creationId xmlns:a16="http://schemas.microsoft.com/office/drawing/2014/main" id="{9EB70964-545D-485C-B044-787BC3FC8D2F}"/>
              </a:ext>
            </a:extLst>
          </p:cNvPr>
          <p:cNvSpPr/>
          <p:nvPr/>
        </p:nvSpPr>
        <p:spPr>
          <a:xfrm flipH="1">
            <a:off x="7283741" y="870258"/>
            <a:ext cx="166227" cy="1026895"/>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0" name="TextBox 29">
            <a:extLst>
              <a:ext uri="{FF2B5EF4-FFF2-40B4-BE49-F238E27FC236}">
                <a16:creationId xmlns:a16="http://schemas.microsoft.com/office/drawing/2014/main" id="{87E44EF1-CEF4-400D-B52A-E8E036E85802}"/>
              </a:ext>
            </a:extLst>
          </p:cNvPr>
          <p:cNvSpPr txBox="1"/>
          <p:nvPr/>
        </p:nvSpPr>
        <p:spPr>
          <a:xfrm>
            <a:off x="4890795" y="5010086"/>
            <a:ext cx="6340041" cy="954107"/>
          </a:xfrm>
          <a:prstGeom prst="rect">
            <a:avLst/>
          </a:prstGeom>
          <a:noFill/>
        </p:spPr>
        <p:txBody>
          <a:bodyPr wrap="square" rtlCol="0">
            <a:spAutoFit/>
          </a:bodyPr>
          <a:lstStyle/>
          <a:p>
            <a:r>
              <a:rPr lang="en-US" sz="1400" b="1" i="0" strike="noStrike" baseline="0" dirty="0"/>
              <a:t>Pesticide Type </a:t>
            </a:r>
            <a:r>
              <a:rPr lang="en-IN" sz="1400" b="1" dirty="0"/>
              <a:t>Competition</a:t>
            </a:r>
            <a:endParaRPr lang="en-US" sz="1400" b="1" dirty="0"/>
          </a:p>
          <a:p>
            <a:pPr marL="342900" indent="-342900">
              <a:buClr>
                <a:schemeClr val="accent1"/>
              </a:buClr>
              <a:buFont typeface="Wingdings" panose="05000000000000000000" pitchFamily="2" charset="2"/>
              <a:buChar char="Ø"/>
            </a:pPr>
            <a:r>
              <a:rPr lang="en-US" sz="1400" dirty="0"/>
              <a:t>ABC has lions 2/3</a:t>
            </a:r>
            <a:r>
              <a:rPr lang="en-US" sz="1400" baseline="30000" dirty="0"/>
              <a:t>rd</a:t>
            </a:r>
            <a:r>
              <a:rPr lang="en-US" sz="1400" dirty="0"/>
              <a:t> share in Herbicides’ market</a:t>
            </a:r>
          </a:p>
          <a:p>
            <a:pPr marL="342900" indent="-342900">
              <a:buClr>
                <a:schemeClr val="accent1"/>
              </a:buClr>
              <a:buFont typeface="Wingdings" panose="05000000000000000000" pitchFamily="2" charset="2"/>
              <a:buChar char="Ø"/>
            </a:pPr>
            <a:r>
              <a:rPr lang="en-US" sz="1400" dirty="0"/>
              <a:t>No presence in Bactericides an opportunity to establish here</a:t>
            </a:r>
          </a:p>
          <a:p>
            <a:pPr marL="342900" indent="-342900">
              <a:buClr>
                <a:schemeClr val="accent1"/>
              </a:buClr>
              <a:buFont typeface="Wingdings" panose="05000000000000000000" pitchFamily="2" charset="2"/>
              <a:buChar char="Ø"/>
            </a:pPr>
            <a:r>
              <a:rPr lang="en-US" sz="1400" dirty="0"/>
              <a:t>Insecticides and Rodenticides share is lesser than 50% market share</a:t>
            </a:r>
          </a:p>
        </p:txBody>
      </p:sp>
      <p:sp>
        <p:nvSpPr>
          <p:cNvPr id="31" name="Arrow: Chevron 30">
            <a:extLst>
              <a:ext uri="{FF2B5EF4-FFF2-40B4-BE49-F238E27FC236}">
                <a16:creationId xmlns:a16="http://schemas.microsoft.com/office/drawing/2014/main" id="{FDD9F13F-2C8D-4C47-8740-9A5D0883F89D}"/>
              </a:ext>
            </a:extLst>
          </p:cNvPr>
          <p:cNvSpPr/>
          <p:nvPr/>
        </p:nvSpPr>
        <p:spPr>
          <a:xfrm>
            <a:off x="4468352" y="5010085"/>
            <a:ext cx="168303" cy="1077217"/>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8" name="TextBox 17">
            <a:extLst>
              <a:ext uri="{FF2B5EF4-FFF2-40B4-BE49-F238E27FC236}">
                <a16:creationId xmlns:a16="http://schemas.microsoft.com/office/drawing/2014/main" id="{E7117F08-55E9-43B5-B5ED-02E857794B5F}"/>
              </a:ext>
            </a:extLst>
          </p:cNvPr>
          <p:cNvSpPr txBox="1"/>
          <p:nvPr/>
        </p:nvSpPr>
        <p:spPr>
          <a:xfrm>
            <a:off x="4789195" y="6558870"/>
            <a:ext cx="2494547" cy="276999"/>
          </a:xfrm>
          <a:prstGeom prst="rect">
            <a:avLst/>
          </a:prstGeom>
          <a:noFill/>
        </p:spPr>
        <p:txBody>
          <a:bodyPr wrap="square">
            <a:spAutoFit/>
          </a:bodyPr>
          <a:lstStyle/>
          <a:p>
            <a:r>
              <a:rPr lang="en-IN" sz="1200" b="1" dirty="0"/>
              <a:t>Source – Sales Data Excel Document</a:t>
            </a:r>
          </a:p>
        </p:txBody>
      </p:sp>
      <p:grpSp>
        <p:nvGrpSpPr>
          <p:cNvPr id="7" name="Group 6">
            <a:extLst>
              <a:ext uri="{FF2B5EF4-FFF2-40B4-BE49-F238E27FC236}">
                <a16:creationId xmlns:a16="http://schemas.microsoft.com/office/drawing/2014/main" id="{2A34DF1B-874D-42CA-8277-40BB04B1E5A1}"/>
              </a:ext>
            </a:extLst>
          </p:cNvPr>
          <p:cNvGrpSpPr/>
          <p:nvPr/>
        </p:nvGrpSpPr>
        <p:grpSpPr>
          <a:xfrm>
            <a:off x="585843" y="1885821"/>
            <a:ext cx="3782095" cy="4201481"/>
            <a:chOff x="501147" y="1762712"/>
            <a:chExt cx="4507831" cy="4694898"/>
          </a:xfrm>
        </p:grpSpPr>
        <p:pic>
          <p:nvPicPr>
            <p:cNvPr id="3" name="Picture 2">
              <a:extLst>
                <a:ext uri="{FF2B5EF4-FFF2-40B4-BE49-F238E27FC236}">
                  <a16:creationId xmlns:a16="http://schemas.microsoft.com/office/drawing/2014/main" id="{BD39C7B4-9E87-4D88-992F-F3E5409D67A2}"/>
                </a:ext>
              </a:extLst>
            </p:cNvPr>
            <p:cNvPicPr>
              <a:picLocks noChangeAspect="1"/>
            </p:cNvPicPr>
            <p:nvPr/>
          </p:nvPicPr>
          <p:blipFill rotWithShape="1">
            <a:blip r:embed="rId3"/>
            <a:srcRect l="24474" t="18740" r="38552" b="9477"/>
            <a:stretch/>
          </p:blipFill>
          <p:spPr>
            <a:xfrm>
              <a:off x="501147" y="1762712"/>
              <a:ext cx="4507831" cy="4694898"/>
            </a:xfrm>
            <a:prstGeom prst="rect">
              <a:avLst/>
            </a:prstGeom>
          </p:spPr>
        </p:pic>
        <p:pic>
          <p:nvPicPr>
            <p:cNvPr id="6" name="Picture 5">
              <a:extLst>
                <a:ext uri="{FF2B5EF4-FFF2-40B4-BE49-F238E27FC236}">
                  <a16:creationId xmlns:a16="http://schemas.microsoft.com/office/drawing/2014/main" id="{B2C3B85F-5057-4352-B654-7257D069E07A}"/>
                </a:ext>
              </a:extLst>
            </p:cNvPr>
            <p:cNvPicPr>
              <a:picLocks noChangeAspect="1"/>
            </p:cNvPicPr>
            <p:nvPr/>
          </p:nvPicPr>
          <p:blipFill rotWithShape="1">
            <a:blip r:embed="rId3"/>
            <a:srcRect l="89145" t="17696" r="657" b="74466"/>
            <a:stretch/>
          </p:blipFill>
          <p:spPr>
            <a:xfrm>
              <a:off x="3393393" y="2532291"/>
              <a:ext cx="1243262" cy="512658"/>
            </a:xfrm>
            <a:prstGeom prst="rect">
              <a:avLst/>
            </a:prstGeom>
          </p:spPr>
        </p:pic>
      </p:grpSp>
    </p:spTree>
    <p:extLst>
      <p:ext uri="{BB962C8B-B14F-4D97-AF65-F5344CB8AC3E}">
        <p14:creationId xmlns:p14="http://schemas.microsoft.com/office/powerpoint/2010/main" val="934570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0" y="219249"/>
            <a:ext cx="12192000" cy="738554"/>
          </a:xfrm>
        </p:spPr>
        <p:txBody>
          <a:bodyPr>
            <a:normAutofit/>
          </a:bodyPr>
          <a:lstStyle/>
          <a:p>
            <a:pPr algn="ctr" defTabSz="457200"/>
            <a:r>
              <a:rPr lang="en-US" sz="3200" dirty="0"/>
              <a:t>Effect of Rainfall on Pesticide Sales</a:t>
            </a:r>
          </a:p>
        </p:txBody>
      </p:sp>
      <p:sp>
        <p:nvSpPr>
          <p:cNvPr id="4" name="Slide Number Placeholder 3">
            <a:extLst>
              <a:ext uri="{FF2B5EF4-FFF2-40B4-BE49-F238E27FC236}">
                <a16:creationId xmlns:a16="http://schemas.microsoft.com/office/drawing/2014/main" id="{1EC235F9-6FC8-4DDA-B53D-4530C927DDBD}"/>
              </a:ext>
            </a:extLst>
          </p:cNvPr>
          <p:cNvSpPr>
            <a:spLocks noGrp="1"/>
          </p:cNvSpPr>
          <p:nvPr>
            <p:ph type="sldNum" sz="quarter" idx="12"/>
          </p:nvPr>
        </p:nvSpPr>
        <p:spPr/>
        <p:txBody>
          <a:bodyPr/>
          <a:lstStyle/>
          <a:p>
            <a:fld id="{34B7E4EF-A1BD-40F4-AB7B-04F084DD991D}" type="slidenum">
              <a:rPr lang="en-US" smtClean="0"/>
              <a:t>10</a:t>
            </a:fld>
            <a:endParaRPr lang="en-US" dirty="0"/>
          </a:p>
        </p:txBody>
      </p:sp>
      <p:sp>
        <p:nvSpPr>
          <p:cNvPr id="10" name="TextBox 9"/>
          <p:cNvSpPr txBox="1"/>
          <p:nvPr/>
        </p:nvSpPr>
        <p:spPr>
          <a:xfrm>
            <a:off x="1723292" y="2438400"/>
            <a:ext cx="184731" cy="369332"/>
          </a:xfrm>
          <a:prstGeom prst="rect">
            <a:avLst/>
          </a:prstGeom>
          <a:noFill/>
        </p:spPr>
        <p:txBody>
          <a:bodyPr wrap="none" rtlCol="0">
            <a:spAutoFit/>
          </a:bodyPr>
          <a:lstStyle/>
          <a:p>
            <a:endParaRPr lang="en-US" dirty="0"/>
          </a:p>
        </p:txBody>
      </p:sp>
      <p:sp>
        <p:nvSpPr>
          <p:cNvPr id="14" name="TextBox 13"/>
          <p:cNvSpPr txBox="1"/>
          <p:nvPr/>
        </p:nvSpPr>
        <p:spPr>
          <a:xfrm>
            <a:off x="449253" y="1643718"/>
            <a:ext cx="4770059" cy="3662541"/>
          </a:xfrm>
          <a:prstGeom prst="rect">
            <a:avLst/>
          </a:prstGeom>
          <a:noFill/>
        </p:spPr>
        <p:txBody>
          <a:bodyPr wrap="square" rtlCol="0">
            <a:spAutoFit/>
          </a:bodyPr>
          <a:lstStyle/>
          <a:p>
            <a:r>
              <a:rPr lang="en-US" sz="2000" b="1" u="sng" dirty="0"/>
              <a:t>State wise Comparison:</a:t>
            </a:r>
          </a:p>
          <a:p>
            <a:endParaRPr lang="en-US" sz="2000" b="1" u="sng" dirty="0"/>
          </a:p>
          <a:p>
            <a:pPr marL="342900" indent="-342900">
              <a:buClr>
                <a:schemeClr val="accent1"/>
              </a:buClr>
              <a:buFont typeface="Wingdings" panose="05000000000000000000" pitchFamily="2" charset="2"/>
              <a:buChar char="Ø"/>
            </a:pPr>
            <a:r>
              <a:rPr lang="en-US" sz="1600" dirty="0"/>
              <a:t>The graph provides an overview of average rain fall in all states over a given period</a:t>
            </a:r>
          </a:p>
          <a:p>
            <a:pPr marL="342900" indent="-342900">
              <a:buClr>
                <a:schemeClr val="accent1"/>
              </a:buClr>
              <a:buFont typeface="Wingdings" panose="05000000000000000000" pitchFamily="2" charset="2"/>
              <a:buChar char="Ø"/>
            </a:pPr>
            <a:r>
              <a:rPr lang="en-US" sz="1600" dirty="0"/>
              <a:t>Observed high average rain fall in the states Uttarakhand and Himachal Pradesh, which are producing lowest Pesticide sales</a:t>
            </a:r>
          </a:p>
          <a:p>
            <a:pPr marL="342900" indent="-342900">
              <a:buClr>
                <a:schemeClr val="accent1"/>
              </a:buClr>
              <a:buFont typeface="Wingdings" panose="05000000000000000000" pitchFamily="2" charset="2"/>
              <a:buChar char="Ø"/>
            </a:pPr>
            <a:r>
              <a:rPr lang="en-US" sz="1600" dirty="0"/>
              <a:t>Observed Moderate average rainfall in the states Uttar Pradesh and Punjab where the pesticide sales are high</a:t>
            </a:r>
          </a:p>
          <a:p>
            <a:pPr marL="342900" indent="-342900">
              <a:buClr>
                <a:schemeClr val="accent1"/>
              </a:buClr>
              <a:buFont typeface="Wingdings" panose="05000000000000000000" pitchFamily="2" charset="2"/>
              <a:buChar char="Ø"/>
            </a:pPr>
            <a:r>
              <a:rPr lang="en-US" sz="1600" dirty="0"/>
              <a:t>The monsoon [June to September] accounts for 70% of annual rain fall which affects the yield of crop. After monsoon, the consumption of pesticides are in high</a:t>
            </a:r>
          </a:p>
        </p:txBody>
      </p:sp>
      <p:sp>
        <p:nvSpPr>
          <p:cNvPr id="11" name="TextBox 10">
            <a:extLst>
              <a:ext uri="{FF2B5EF4-FFF2-40B4-BE49-F238E27FC236}">
                <a16:creationId xmlns:a16="http://schemas.microsoft.com/office/drawing/2014/main" id="{07F71A69-DBF8-4CEB-ABC9-FA17DCD0A739}"/>
              </a:ext>
            </a:extLst>
          </p:cNvPr>
          <p:cNvSpPr txBox="1"/>
          <p:nvPr/>
        </p:nvSpPr>
        <p:spPr>
          <a:xfrm>
            <a:off x="3686783" y="6492875"/>
            <a:ext cx="6120328" cy="261610"/>
          </a:xfrm>
          <a:prstGeom prst="rect">
            <a:avLst/>
          </a:prstGeom>
          <a:noFill/>
        </p:spPr>
        <p:txBody>
          <a:bodyPr wrap="square">
            <a:spAutoFit/>
          </a:bodyPr>
          <a:lstStyle/>
          <a:p>
            <a:r>
              <a:rPr lang="en-US" sz="1100" b="1" dirty="0">
                <a:solidFill>
                  <a:schemeClr val="tx1">
                    <a:lumMod val="75000"/>
                    <a:lumOff val="25000"/>
                  </a:schemeClr>
                </a:solidFill>
              </a:rPr>
              <a:t>Source - India Meteorological Department-Rain fall statistics of India-2018</a:t>
            </a:r>
            <a:endParaRPr lang="en-IN" sz="1100" b="1" dirty="0"/>
          </a:p>
        </p:txBody>
      </p:sp>
      <p:pic>
        <p:nvPicPr>
          <p:cNvPr id="13" name="Picture 12">
            <a:extLst>
              <a:ext uri="{FF2B5EF4-FFF2-40B4-BE49-F238E27FC236}">
                <a16:creationId xmlns:a16="http://schemas.microsoft.com/office/drawing/2014/main" id="{99DE1C07-17CE-4438-A008-4B2EF5C1CC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84277" y="4049868"/>
            <a:ext cx="5814646" cy="2045368"/>
          </a:xfrm>
          <a:prstGeom prst="rect">
            <a:avLst/>
          </a:prstGeom>
        </p:spPr>
      </p:pic>
      <p:pic>
        <p:nvPicPr>
          <p:cNvPr id="16" name="Picture 15">
            <a:extLst>
              <a:ext uri="{FF2B5EF4-FFF2-40B4-BE49-F238E27FC236}">
                <a16:creationId xmlns:a16="http://schemas.microsoft.com/office/drawing/2014/main" id="{36CC1D20-D283-434D-9D87-4074E5C55A2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84277" y="1090246"/>
            <a:ext cx="5920154" cy="2696308"/>
          </a:xfrm>
          <a:prstGeom prst="rect">
            <a:avLst/>
          </a:prstGeom>
        </p:spPr>
      </p:pic>
    </p:spTree>
    <p:extLst>
      <p:ext uri="{BB962C8B-B14F-4D97-AF65-F5344CB8AC3E}">
        <p14:creationId xmlns:p14="http://schemas.microsoft.com/office/powerpoint/2010/main" val="7764092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76A0C-6D7A-4EB0-B862-ED505D47B38A}"/>
              </a:ext>
            </a:extLst>
          </p:cNvPr>
          <p:cNvSpPr>
            <a:spLocks noGrp="1"/>
          </p:cNvSpPr>
          <p:nvPr>
            <p:ph type="title"/>
          </p:nvPr>
        </p:nvSpPr>
        <p:spPr>
          <a:xfrm>
            <a:off x="0" y="103829"/>
            <a:ext cx="12192000" cy="599037"/>
          </a:xfrm>
        </p:spPr>
        <p:txBody>
          <a:bodyPr anchor="ctr">
            <a:normAutofit/>
          </a:bodyPr>
          <a:lstStyle/>
          <a:p>
            <a:pPr algn="ctr" defTabSz="457200"/>
            <a:r>
              <a:rPr lang="en-US" sz="3200" dirty="0"/>
              <a:t>Crop Cultivation Effect of the Pesticide Sale</a:t>
            </a:r>
          </a:p>
        </p:txBody>
      </p:sp>
      <p:sp>
        <p:nvSpPr>
          <p:cNvPr id="11" name="Content Placeholder 10">
            <a:extLst>
              <a:ext uri="{FF2B5EF4-FFF2-40B4-BE49-F238E27FC236}">
                <a16:creationId xmlns:a16="http://schemas.microsoft.com/office/drawing/2014/main" id="{72D93508-18F9-403D-8DFB-07BA8D9E297A}"/>
              </a:ext>
            </a:extLst>
          </p:cNvPr>
          <p:cNvSpPr>
            <a:spLocks noGrp="1"/>
          </p:cNvSpPr>
          <p:nvPr>
            <p:ph idx="1"/>
          </p:nvPr>
        </p:nvSpPr>
        <p:spPr>
          <a:xfrm>
            <a:off x="175142" y="1076952"/>
            <a:ext cx="3197352" cy="4326321"/>
          </a:xfrm>
        </p:spPr>
        <p:txBody>
          <a:bodyPr anchor="ctr">
            <a:noAutofit/>
          </a:bodyPr>
          <a:lstStyle/>
          <a:p>
            <a:endParaRPr lang="en-US" sz="1200" dirty="0"/>
          </a:p>
          <a:p>
            <a:endParaRPr lang="en-US" sz="1200" dirty="0"/>
          </a:p>
          <a:p>
            <a:endParaRPr lang="en-US" sz="1200" dirty="0"/>
          </a:p>
          <a:p>
            <a:endParaRPr lang="en-US" sz="1200" dirty="0"/>
          </a:p>
          <a:p>
            <a:endParaRPr lang="en-US" sz="1200" dirty="0"/>
          </a:p>
          <a:p>
            <a:pPr marL="0" indent="0">
              <a:buNone/>
            </a:pPr>
            <a:endParaRPr lang="en-US" sz="1200" dirty="0"/>
          </a:p>
          <a:p>
            <a:pPr marL="0" indent="0">
              <a:buNone/>
            </a:pPr>
            <a:endParaRPr lang="en-US" sz="1200" dirty="0"/>
          </a:p>
          <a:p>
            <a:endParaRPr lang="en-US" sz="1200" dirty="0"/>
          </a:p>
          <a:p>
            <a:pPr>
              <a:buClr>
                <a:schemeClr val="accent1"/>
              </a:buClr>
              <a:buFont typeface="Wingdings" panose="05000000000000000000" pitchFamily="2" charset="2"/>
              <a:buChar char="Ø"/>
            </a:pPr>
            <a:r>
              <a:rPr lang="en-US" sz="1400" dirty="0"/>
              <a:t>Total crop production from year 2014 to 2018 (in Tons) of different states affective the consumption of pesticides</a:t>
            </a:r>
          </a:p>
          <a:p>
            <a:pPr>
              <a:buClr>
                <a:schemeClr val="accent1"/>
              </a:buClr>
              <a:buFont typeface="Wingdings" panose="05000000000000000000" pitchFamily="2" charset="2"/>
              <a:buChar char="Ø"/>
            </a:pPr>
            <a:r>
              <a:rPr lang="en-US" sz="1400" dirty="0"/>
              <a:t>3 major production of crop is Wheat, Sugarcane and Rice</a:t>
            </a:r>
          </a:p>
          <a:p>
            <a:pPr>
              <a:buClr>
                <a:schemeClr val="accent1"/>
              </a:buClr>
              <a:buFont typeface="Wingdings" panose="05000000000000000000" pitchFamily="2" charset="2"/>
              <a:buChar char="Ø"/>
            </a:pPr>
            <a:r>
              <a:rPr lang="en-US" sz="1400" b="1" dirty="0"/>
              <a:t>The pesticides used for Wheat and Sugarcane is majorly Herbicides and for Rice it is Insecticides</a:t>
            </a:r>
          </a:p>
          <a:p>
            <a:pPr>
              <a:buClr>
                <a:schemeClr val="accent1"/>
              </a:buClr>
              <a:buFont typeface="Wingdings" panose="05000000000000000000" pitchFamily="2" charset="2"/>
              <a:buChar char="Ø"/>
            </a:pPr>
            <a:r>
              <a:rPr lang="en-US" sz="1400" b="1" dirty="0"/>
              <a:t>Punjab and Uttar Pradesh are considered the major producer of Wheat, Sugarcane and RICE</a:t>
            </a:r>
          </a:p>
          <a:p>
            <a:pPr>
              <a:buClr>
                <a:schemeClr val="accent1"/>
              </a:buClr>
              <a:buFont typeface="Wingdings" panose="05000000000000000000" pitchFamily="2" charset="2"/>
              <a:buChar char="Ø"/>
            </a:pPr>
            <a:r>
              <a:rPr lang="en-US" sz="1400" dirty="0"/>
              <a:t>Sugarcane is the most grown crop in Utter Pradesh which required Herbicides as an important pesticides to keep the cultivation safe</a:t>
            </a:r>
            <a:endParaRPr lang="en-US" sz="1200" b="1" dirty="0"/>
          </a:p>
          <a:p>
            <a:pPr marL="0" indent="0">
              <a:buNone/>
            </a:pPr>
            <a:endParaRPr lang="en-US" sz="1200" b="1" dirty="0"/>
          </a:p>
          <a:p>
            <a:pPr marL="0" indent="0">
              <a:buNone/>
            </a:pPr>
            <a:endParaRPr lang="en-US" sz="1200" b="1" dirty="0"/>
          </a:p>
          <a:p>
            <a:endParaRPr lang="en-US" sz="1200" b="1" dirty="0"/>
          </a:p>
          <a:p>
            <a:endParaRPr lang="en-US" sz="1200" b="1" dirty="0"/>
          </a:p>
          <a:p>
            <a:r>
              <a:rPr lang="en-US" sz="1200" b="1" dirty="0"/>
              <a:t> </a:t>
            </a:r>
          </a:p>
          <a:p>
            <a:pPr algn="ctr"/>
            <a:endParaRPr lang="en-US" sz="1200" dirty="0"/>
          </a:p>
        </p:txBody>
      </p:sp>
      <p:pic>
        <p:nvPicPr>
          <p:cNvPr id="7" name="Content Placeholder 6">
            <a:extLst>
              <a:ext uri="{FF2B5EF4-FFF2-40B4-BE49-F238E27FC236}">
                <a16:creationId xmlns:a16="http://schemas.microsoft.com/office/drawing/2014/main" id="{F00D116B-F5D2-4BE5-8934-80BD75D08B4A}"/>
              </a:ext>
            </a:extLst>
          </p:cNvPr>
          <p:cNvPicPr>
            <a:picLocks noChangeAspect="1"/>
          </p:cNvPicPr>
          <p:nvPr/>
        </p:nvPicPr>
        <p:blipFill>
          <a:blip r:embed="rId2"/>
          <a:stretch>
            <a:fillRect/>
          </a:stretch>
        </p:blipFill>
        <p:spPr>
          <a:xfrm>
            <a:off x="3372494" y="702866"/>
            <a:ext cx="8644364" cy="1491134"/>
          </a:xfrm>
          <a:prstGeom prst="rect">
            <a:avLst/>
          </a:prstGeom>
        </p:spPr>
      </p:pic>
      <p:pic>
        <p:nvPicPr>
          <p:cNvPr id="9" name="Picture 8">
            <a:extLst>
              <a:ext uri="{FF2B5EF4-FFF2-40B4-BE49-F238E27FC236}">
                <a16:creationId xmlns:a16="http://schemas.microsoft.com/office/drawing/2014/main" id="{34A51397-5C1B-4E81-9B39-332072D19F38}"/>
              </a:ext>
            </a:extLst>
          </p:cNvPr>
          <p:cNvPicPr>
            <a:picLocks noChangeAspect="1"/>
          </p:cNvPicPr>
          <p:nvPr/>
        </p:nvPicPr>
        <p:blipFill>
          <a:blip r:embed="rId3"/>
          <a:stretch>
            <a:fillRect/>
          </a:stretch>
        </p:blipFill>
        <p:spPr>
          <a:xfrm>
            <a:off x="3372494" y="2058294"/>
            <a:ext cx="8644364" cy="3923970"/>
          </a:xfrm>
          <a:prstGeom prst="rect">
            <a:avLst/>
          </a:prstGeom>
        </p:spPr>
      </p:pic>
      <p:sp>
        <p:nvSpPr>
          <p:cNvPr id="6" name="Slide Number Placeholder 5">
            <a:extLst>
              <a:ext uri="{FF2B5EF4-FFF2-40B4-BE49-F238E27FC236}">
                <a16:creationId xmlns:a16="http://schemas.microsoft.com/office/drawing/2014/main" id="{8A402FC0-E881-4F57-A0A0-788B49DAAD32}"/>
              </a:ext>
            </a:extLst>
          </p:cNvPr>
          <p:cNvSpPr>
            <a:spLocks noGrp="1"/>
          </p:cNvSpPr>
          <p:nvPr>
            <p:ph type="sldNum" sz="quarter" idx="12"/>
          </p:nvPr>
        </p:nvSpPr>
        <p:spPr/>
        <p:txBody>
          <a:bodyPr/>
          <a:lstStyle/>
          <a:p>
            <a:fld id="{34B7E4EF-A1BD-40F4-AB7B-04F084DD991D}" type="slidenum">
              <a:rPr lang="en-US" smtClean="0"/>
              <a:t>11</a:t>
            </a:fld>
            <a:endParaRPr lang="en-US" dirty="0"/>
          </a:p>
        </p:txBody>
      </p:sp>
    </p:spTree>
    <p:extLst>
      <p:ext uri="{BB962C8B-B14F-4D97-AF65-F5344CB8AC3E}">
        <p14:creationId xmlns:p14="http://schemas.microsoft.com/office/powerpoint/2010/main" val="8543755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8CE9A-1742-4ACD-A73A-3E152E94E1F8}"/>
              </a:ext>
            </a:extLst>
          </p:cNvPr>
          <p:cNvSpPr>
            <a:spLocks noGrp="1"/>
          </p:cNvSpPr>
          <p:nvPr>
            <p:ph type="title"/>
          </p:nvPr>
        </p:nvSpPr>
        <p:spPr>
          <a:xfrm>
            <a:off x="0" y="144044"/>
            <a:ext cx="12191999" cy="669557"/>
          </a:xfrm>
        </p:spPr>
        <p:txBody>
          <a:bodyPr>
            <a:normAutofit/>
          </a:bodyPr>
          <a:lstStyle/>
          <a:p>
            <a:pPr algn="ctr"/>
            <a:r>
              <a:rPr lang="en-IN" sz="3600" b="1" dirty="0"/>
              <a:t>ARIMA Model</a:t>
            </a:r>
          </a:p>
        </p:txBody>
      </p:sp>
      <p:sp>
        <p:nvSpPr>
          <p:cNvPr id="10" name="Slide Number Placeholder 9">
            <a:extLst>
              <a:ext uri="{FF2B5EF4-FFF2-40B4-BE49-F238E27FC236}">
                <a16:creationId xmlns:a16="http://schemas.microsoft.com/office/drawing/2014/main" id="{31139884-C1F5-4ADC-9DB2-874E0325565E}"/>
              </a:ext>
            </a:extLst>
          </p:cNvPr>
          <p:cNvSpPr>
            <a:spLocks noGrp="1"/>
          </p:cNvSpPr>
          <p:nvPr>
            <p:ph type="sldNum" sz="quarter" idx="12"/>
          </p:nvPr>
        </p:nvSpPr>
        <p:spPr/>
        <p:txBody>
          <a:bodyPr/>
          <a:lstStyle/>
          <a:p>
            <a:fld id="{34B7E4EF-A1BD-40F4-AB7B-04F084DD991D}" type="slidenum">
              <a:rPr lang="en-US" smtClean="0"/>
              <a:t>12</a:t>
            </a:fld>
            <a:endParaRPr lang="en-US" dirty="0"/>
          </a:p>
        </p:txBody>
      </p:sp>
      <p:sp>
        <p:nvSpPr>
          <p:cNvPr id="12" name="Title 1">
            <a:extLst>
              <a:ext uri="{FF2B5EF4-FFF2-40B4-BE49-F238E27FC236}">
                <a16:creationId xmlns:a16="http://schemas.microsoft.com/office/drawing/2014/main" id="{1317AEAB-EB7C-4D98-AD32-8E79852DABA9}"/>
              </a:ext>
            </a:extLst>
          </p:cNvPr>
          <p:cNvSpPr txBox="1">
            <a:spLocks/>
          </p:cNvSpPr>
          <p:nvPr/>
        </p:nvSpPr>
        <p:spPr>
          <a:xfrm>
            <a:off x="5451235" y="1626202"/>
            <a:ext cx="3057236" cy="151511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600" dirty="0">
                <a:latin typeface="+mn-lt"/>
              </a:rPr>
              <a:t>We see that ARIMA model has the least error in forecasted values, so we project our data to the near future to know what kind of sales pattern ABC can expect.</a:t>
            </a:r>
          </a:p>
        </p:txBody>
      </p:sp>
      <p:pic>
        <p:nvPicPr>
          <p:cNvPr id="13" name="Picture 12">
            <a:extLst>
              <a:ext uri="{FF2B5EF4-FFF2-40B4-BE49-F238E27FC236}">
                <a16:creationId xmlns:a16="http://schemas.microsoft.com/office/drawing/2014/main" id="{910DF64D-298F-4E74-84BB-90C8DFB4F7E8}"/>
              </a:ext>
            </a:extLst>
          </p:cNvPr>
          <p:cNvPicPr>
            <a:picLocks noChangeAspect="1"/>
          </p:cNvPicPr>
          <p:nvPr/>
        </p:nvPicPr>
        <p:blipFill rotWithShape="1">
          <a:blip r:embed="rId2"/>
          <a:srcRect l="-62" b="84422"/>
          <a:stretch/>
        </p:blipFill>
        <p:spPr>
          <a:xfrm>
            <a:off x="5742665" y="849114"/>
            <a:ext cx="5390394" cy="630258"/>
          </a:xfrm>
          <a:prstGeom prst="rect">
            <a:avLst/>
          </a:prstGeom>
          <a:noFill/>
          <a:ln w="25400">
            <a:solidFill>
              <a:srgbClr val="FF0000"/>
            </a:solidFill>
          </a:ln>
          <a:effectLst>
            <a:outerShdw blurRad="50800" dist="50800" dir="5400000" sx="1000" sy="1000" algn="ctr" rotWithShape="0">
              <a:schemeClr val="tx1"/>
            </a:outerShdw>
          </a:effectLst>
        </p:spPr>
      </p:pic>
      <p:pic>
        <p:nvPicPr>
          <p:cNvPr id="14" name="Picture 13">
            <a:extLst>
              <a:ext uri="{FF2B5EF4-FFF2-40B4-BE49-F238E27FC236}">
                <a16:creationId xmlns:a16="http://schemas.microsoft.com/office/drawing/2014/main" id="{5CFD0DCD-03A7-4C15-933E-888B14DAEF5C}"/>
              </a:ext>
            </a:extLst>
          </p:cNvPr>
          <p:cNvPicPr>
            <a:picLocks noChangeAspect="1"/>
          </p:cNvPicPr>
          <p:nvPr/>
        </p:nvPicPr>
        <p:blipFill>
          <a:blip r:embed="rId3"/>
          <a:stretch>
            <a:fillRect/>
          </a:stretch>
        </p:blipFill>
        <p:spPr>
          <a:xfrm>
            <a:off x="820752" y="1096855"/>
            <a:ext cx="4167120" cy="2633998"/>
          </a:xfrm>
          <a:prstGeom prst="rect">
            <a:avLst/>
          </a:prstGeom>
        </p:spPr>
      </p:pic>
      <p:pic>
        <p:nvPicPr>
          <p:cNvPr id="15" name="Picture 14">
            <a:extLst>
              <a:ext uri="{FF2B5EF4-FFF2-40B4-BE49-F238E27FC236}">
                <a16:creationId xmlns:a16="http://schemas.microsoft.com/office/drawing/2014/main" id="{43A0326D-A7C2-4968-AA15-E15931DD0FC5}"/>
              </a:ext>
            </a:extLst>
          </p:cNvPr>
          <p:cNvPicPr>
            <a:picLocks noChangeAspect="1"/>
          </p:cNvPicPr>
          <p:nvPr/>
        </p:nvPicPr>
        <p:blipFill>
          <a:blip r:embed="rId4"/>
          <a:stretch>
            <a:fillRect/>
          </a:stretch>
        </p:blipFill>
        <p:spPr>
          <a:xfrm>
            <a:off x="172133" y="4035128"/>
            <a:ext cx="6517591" cy="2366723"/>
          </a:xfrm>
          <a:prstGeom prst="rect">
            <a:avLst/>
          </a:prstGeom>
        </p:spPr>
      </p:pic>
      <p:sp>
        <p:nvSpPr>
          <p:cNvPr id="16" name="TextBox 15">
            <a:extLst>
              <a:ext uri="{FF2B5EF4-FFF2-40B4-BE49-F238E27FC236}">
                <a16:creationId xmlns:a16="http://schemas.microsoft.com/office/drawing/2014/main" id="{6AA8DDD3-F8AF-423B-8F4B-62E093A4184F}"/>
              </a:ext>
            </a:extLst>
          </p:cNvPr>
          <p:cNvSpPr txBox="1"/>
          <p:nvPr/>
        </p:nvSpPr>
        <p:spPr>
          <a:xfrm>
            <a:off x="8715313" y="1759337"/>
            <a:ext cx="3397478" cy="1367689"/>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effectLst/>
              </a:rPr>
              <a:t>p = 1 – the maximum lag polynomial specification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600" dirty="0"/>
              <a:t>d = </a:t>
            </a:r>
            <a:r>
              <a:rPr kumimoji="0" lang="en-US" altLang="en-US" sz="1600" b="0" i="0" u="none" strike="noStrike" cap="none" normalizeH="0" baseline="0" dirty="0">
                <a:ln>
                  <a:noFill/>
                </a:ln>
                <a:effectLst/>
              </a:rPr>
              <a:t>0 is the maximum degree specification</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600" dirty="0"/>
              <a:t>q</a:t>
            </a:r>
            <a:r>
              <a:rPr kumimoji="0" lang="en-US" altLang="en-US" sz="1600" b="0" i="0" u="none" strike="noStrike" cap="none" normalizeH="0" baseline="0" dirty="0">
                <a:ln>
                  <a:noFill/>
                </a:ln>
                <a:effectLst/>
              </a:rPr>
              <a:t> = 1 is the weighted error</a:t>
            </a:r>
          </a:p>
        </p:txBody>
      </p:sp>
      <p:sp>
        <p:nvSpPr>
          <p:cNvPr id="18" name="Arrow: Chevron 17">
            <a:extLst>
              <a:ext uri="{FF2B5EF4-FFF2-40B4-BE49-F238E27FC236}">
                <a16:creationId xmlns:a16="http://schemas.microsoft.com/office/drawing/2014/main" id="{EA7AE220-10BD-4BA6-B12C-79985FF1B4CB}"/>
              </a:ext>
            </a:extLst>
          </p:cNvPr>
          <p:cNvSpPr/>
          <p:nvPr/>
        </p:nvSpPr>
        <p:spPr>
          <a:xfrm flipH="1">
            <a:off x="5212168" y="1863843"/>
            <a:ext cx="153100" cy="1039830"/>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0" name="Arrow: Chevron 19">
            <a:extLst>
              <a:ext uri="{FF2B5EF4-FFF2-40B4-BE49-F238E27FC236}">
                <a16:creationId xmlns:a16="http://schemas.microsoft.com/office/drawing/2014/main" id="{3D4BB200-B1BE-48C7-9530-69DC7E982CF2}"/>
              </a:ext>
            </a:extLst>
          </p:cNvPr>
          <p:cNvSpPr/>
          <p:nvPr/>
        </p:nvSpPr>
        <p:spPr>
          <a:xfrm flipH="1">
            <a:off x="6717477" y="4680377"/>
            <a:ext cx="153100" cy="1039830"/>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 name="Rectangle 2">
            <a:extLst>
              <a:ext uri="{FF2B5EF4-FFF2-40B4-BE49-F238E27FC236}">
                <a16:creationId xmlns:a16="http://schemas.microsoft.com/office/drawing/2014/main" id="{11EAE842-86A6-4F7C-896E-75D0ED303041}"/>
              </a:ext>
            </a:extLst>
          </p:cNvPr>
          <p:cNvSpPr/>
          <p:nvPr/>
        </p:nvSpPr>
        <p:spPr>
          <a:xfrm>
            <a:off x="6948947" y="4187437"/>
            <a:ext cx="4925291" cy="2062103"/>
          </a:xfrm>
          <a:prstGeom prst="rect">
            <a:avLst/>
          </a:prstGeom>
        </p:spPr>
        <p:txBody>
          <a:bodyPr wrap="square">
            <a:spAutoFit/>
          </a:bodyPr>
          <a:lstStyle/>
          <a:p>
            <a:pPr marL="285750" indent="-285750">
              <a:buClr>
                <a:schemeClr val="accent1"/>
              </a:buClr>
              <a:buFont typeface="Wingdings" panose="05000000000000000000" pitchFamily="2" charset="2"/>
              <a:buChar char="Ø"/>
            </a:pPr>
            <a:r>
              <a:rPr lang="en-US" sz="1600" dirty="0"/>
              <a:t>The forecasted data values shows an increase in sales around April through May followed by a drop in June-July</a:t>
            </a:r>
          </a:p>
          <a:p>
            <a:pPr marL="285750" indent="-285750">
              <a:buClr>
                <a:schemeClr val="accent1"/>
              </a:buClr>
              <a:buFont typeface="Wingdings" panose="05000000000000000000" pitchFamily="2" charset="2"/>
              <a:buChar char="Ø"/>
            </a:pPr>
            <a:r>
              <a:rPr lang="en-US" sz="1600" dirty="0"/>
              <a:t>Again, the trend picks up well during August-September</a:t>
            </a:r>
          </a:p>
          <a:p>
            <a:pPr marL="285750" indent="-285750">
              <a:buClr>
                <a:schemeClr val="accent1"/>
              </a:buClr>
              <a:buFont typeface="Wingdings" panose="05000000000000000000" pitchFamily="2" charset="2"/>
              <a:buChar char="Ø"/>
            </a:pPr>
            <a:r>
              <a:rPr lang="en-US" sz="1600" dirty="0"/>
              <a:t>Sales are looking balanced year-round with anticipation of good sales during the Off-Season and Kharif season</a:t>
            </a:r>
          </a:p>
        </p:txBody>
      </p:sp>
    </p:spTree>
    <p:extLst>
      <p:ext uri="{BB962C8B-B14F-4D97-AF65-F5344CB8AC3E}">
        <p14:creationId xmlns:p14="http://schemas.microsoft.com/office/powerpoint/2010/main" val="12179708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FCDB9CC1-99E1-4C60-BE85-D8CD197DA7F7}"/>
              </a:ext>
            </a:extLst>
          </p:cNvPr>
          <p:cNvSpPr>
            <a:spLocks noGrp="1"/>
          </p:cNvSpPr>
          <p:nvPr>
            <p:ph type="sldNum" sz="quarter" idx="12"/>
          </p:nvPr>
        </p:nvSpPr>
        <p:spPr/>
        <p:txBody>
          <a:bodyPr/>
          <a:lstStyle/>
          <a:p>
            <a:fld id="{34B7E4EF-A1BD-40F4-AB7B-04F084DD991D}" type="slidenum">
              <a:rPr lang="en-US" smtClean="0"/>
              <a:t>13</a:t>
            </a:fld>
            <a:endParaRPr lang="en-US" dirty="0"/>
          </a:p>
        </p:txBody>
      </p:sp>
      <p:sp>
        <p:nvSpPr>
          <p:cNvPr id="7" name="Title 1">
            <a:extLst>
              <a:ext uri="{FF2B5EF4-FFF2-40B4-BE49-F238E27FC236}">
                <a16:creationId xmlns:a16="http://schemas.microsoft.com/office/drawing/2014/main" id="{619732B7-498C-40CF-8149-F79151D70779}"/>
              </a:ext>
            </a:extLst>
          </p:cNvPr>
          <p:cNvSpPr txBox="1">
            <a:spLocks/>
          </p:cNvSpPr>
          <p:nvPr/>
        </p:nvSpPr>
        <p:spPr>
          <a:xfrm>
            <a:off x="0" y="195171"/>
            <a:ext cx="12192000" cy="66955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3200" dirty="0"/>
              <a:t>Exogenous Dataset (Source: WWW)</a:t>
            </a:r>
          </a:p>
        </p:txBody>
      </p:sp>
      <p:pic>
        <p:nvPicPr>
          <p:cNvPr id="11" name="Picture 10">
            <a:extLst>
              <a:ext uri="{FF2B5EF4-FFF2-40B4-BE49-F238E27FC236}">
                <a16:creationId xmlns:a16="http://schemas.microsoft.com/office/drawing/2014/main" id="{0CA33A7A-0FA7-437C-B460-838904FC349B}"/>
              </a:ext>
            </a:extLst>
          </p:cNvPr>
          <p:cNvPicPr>
            <a:picLocks noChangeAspect="1"/>
          </p:cNvPicPr>
          <p:nvPr/>
        </p:nvPicPr>
        <p:blipFill>
          <a:blip r:embed="rId2"/>
          <a:stretch>
            <a:fillRect/>
          </a:stretch>
        </p:blipFill>
        <p:spPr>
          <a:xfrm>
            <a:off x="8324316" y="924127"/>
            <a:ext cx="1558986" cy="5380429"/>
          </a:xfrm>
          <a:prstGeom prst="rect">
            <a:avLst/>
          </a:prstGeom>
        </p:spPr>
      </p:pic>
      <p:sp>
        <p:nvSpPr>
          <p:cNvPr id="9" name="TextBox 8">
            <a:extLst>
              <a:ext uri="{FF2B5EF4-FFF2-40B4-BE49-F238E27FC236}">
                <a16:creationId xmlns:a16="http://schemas.microsoft.com/office/drawing/2014/main" id="{2159E89B-6106-42B0-BF1D-0B7B24069477}"/>
              </a:ext>
            </a:extLst>
          </p:cNvPr>
          <p:cNvSpPr txBox="1"/>
          <p:nvPr/>
        </p:nvSpPr>
        <p:spPr>
          <a:xfrm>
            <a:off x="717331" y="1666016"/>
            <a:ext cx="6094378" cy="3323987"/>
          </a:xfrm>
          <a:prstGeom prst="rect">
            <a:avLst/>
          </a:prstGeom>
          <a:noFill/>
        </p:spPr>
        <p:txBody>
          <a:bodyPr wrap="square">
            <a:spAutoFit/>
          </a:bodyPr>
          <a:lstStyle/>
          <a:p>
            <a:pPr marL="285750" indent="-285750">
              <a:buClr>
                <a:schemeClr val="accent1"/>
              </a:buClr>
              <a:buFont typeface="Wingdings" panose="05000000000000000000" pitchFamily="2" charset="2"/>
              <a:buChar char="Ø"/>
            </a:pPr>
            <a:r>
              <a:rPr lang="en-IN" sz="1600" dirty="0"/>
              <a:t>Using an additional dataset was based on rainfall analysis of the financial years between 2014 and 2018</a:t>
            </a:r>
          </a:p>
          <a:p>
            <a:pPr marL="285750" indent="-285750">
              <a:buClr>
                <a:schemeClr val="accent1"/>
              </a:buClr>
              <a:buFont typeface="Wingdings" panose="05000000000000000000" pitchFamily="2" charset="2"/>
              <a:buChar char="Ø"/>
            </a:pPr>
            <a:r>
              <a:rPr lang="en-IN" sz="1600" b="1" dirty="0"/>
              <a:t>The Rainfall data has been merged with the actual data set to get the result through SARIMAX model</a:t>
            </a:r>
          </a:p>
          <a:p>
            <a:pPr marL="285750" indent="-285750">
              <a:buClr>
                <a:schemeClr val="accent1"/>
              </a:buClr>
              <a:buFont typeface="Wingdings" panose="05000000000000000000" pitchFamily="2" charset="2"/>
              <a:buChar char="Ø"/>
            </a:pPr>
            <a:r>
              <a:rPr lang="en-IN" sz="1600" dirty="0"/>
              <a:t>Several additional factors like District, State, FG have been removed due to integration issues</a:t>
            </a:r>
          </a:p>
          <a:p>
            <a:pPr marL="285750" indent="-285750">
              <a:buClr>
                <a:schemeClr val="accent1"/>
              </a:buClr>
              <a:buFont typeface="Wingdings" panose="05000000000000000000" pitchFamily="2" charset="2"/>
              <a:buChar char="Ø"/>
            </a:pPr>
            <a:r>
              <a:rPr lang="en-IN" sz="1600" dirty="0"/>
              <a:t>Indexes are aligned as per the sales of ABC Manufacturing company</a:t>
            </a:r>
          </a:p>
          <a:p>
            <a:endParaRPr lang="en-IN" sz="1800" dirty="0"/>
          </a:p>
          <a:p>
            <a:r>
              <a:rPr lang="en-US" sz="1600" dirty="0"/>
              <a:t>As a part of SARIMAX, we’re going to implement another model to demonstrate the effectiveness of exogenous variables in our dataset.</a:t>
            </a:r>
            <a:endParaRPr lang="en-US" sz="1600" b="0" i="0" u="none" strike="noStrike" baseline="0" dirty="0"/>
          </a:p>
          <a:p>
            <a:pPr marL="342900" indent="-342900">
              <a:buClr>
                <a:schemeClr val="accent1"/>
              </a:buClr>
              <a:buFont typeface="Wingdings" panose="05000000000000000000" pitchFamily="2" charset="2"/>
              <a:buChar char="Ø"/>
            </a:pPr>
            <a:r>
              <a:rPr lang="en-US" sz="1600" b="0" i="0" u="none" strike="noStrike" baseline="0" dirty="0"/>
              <a:t>To identify other reasons if they are influencing Pesticide sales</a:t>
            </a:r>
          </a:p>
          <a:p>
            <a:pPr marL="342900" indent="-342900">
              <a:buClr>
                <a:schemeClr val="accent1"/>
              </a:buClr>
              <a:buFont typeface="Wingdings" panose="05000000000000000000" pitchFamily="2" charset="2"/>
              <a:buChar char="Ø"/>
            </a:pPr>
            <a:r>
              <a:rPr lang="en-US" sz="1600" b="0" i="0" u="none" strike="noStrike" baseline="0" dirty="0"/>
              <a:t>To provide month wise forecast of Pesticide sales for ABC Manufacturing </a:t>
            </a:r>
          </a:p>
        </p:txBody>
      </p:sp>
    </p:spTree>
    <p:extLst>
      <p:ext uri="{BB962C8B-B14F-4D97-AF65-F5344CB8AC3E}">
        <p14:creationId xmlns:p14="http://schemas.microsoft.com/office/powerpoint/2010/main" val="30539779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8CE9A-1742-4ACD-A73A-3E152E94E1F8}"/>
              </a:ext>
            </a:extLst>
          </p:cNvPr>
          <p:cNvSpPr>
            <a:spLocks noGrp="1"/>
          </p:cNvSpPr>
          <p:nvPr>
            <p:ph type="title"/>
          </p:nvPr>
        </p:nvSpPr>
        <p:spPr>
          <a:xfrm>
            <a:off x="0" y="96547"/>
            <a:ext cx="12192000" cy="669557"/>
          </a:xfrm>
        </p:spPr>
        <p:txBody>
          <a:bodyPr>
            <a:normAutofit/>
          </a:bodyPr>
          <a:lstStyle/>
          <a:p>
            <a:pPr algn="ctr"/>
            <a:r>
              <a:rPr lang="en-IN" sz="3200" dirty="0"/>
              <a:t>SARIMAX Model</a:t>
            </a:r>
          </a:p>
        </p:txBody>
      </p:sp>
      <p:sp>
        <p:nvSpPr>
          <p:cNvPr id="10" name="Slide Number Placeholder 9">
            <a:extLst>
              <a:ext uri="{FF2B5EF4-FFF2-40B4-BE49-F238E27FC236}">
                <a16:creationId xmlns:a16="http://schemas.microsoft.com/office/drawing/2014/main" id="{31139884-C1F5-4ADC-9DB2-874E0325565E}"/>
              </a:ext>
            </a:extLst>
          </p:cNvPr>
          <p:cNvSpPr>
            <a:spLocks noGrp="1"/>
          </p:cNvSpPr>
          <p:nvPr>
            <p:ph type="sldNum" sz="quarter" idx="12"/>
          </p:nvPr>
        </p:nvSpPr>
        <p:spPr/>
        <p:txBody>
          <a:bodyPr/>
          <a:lstStyle/>
          <a:p>
            <a:fld id="{34B7E4EF-A1BD-40F4-AB7B-04F084DD991D}" type="slidenum">
              <a:rPr lang="en-US" smtClean="0"/>
              <a:t>14</a:t>
            </a:fld>
            <a:endParaRPr lang="en-US" dirty="0"/>
          </a:p>
        </p:txBody>
      </p:sp>
      <p:sp>
        <p:nvSpPr>
          <p:cNvPr id="12" name="Title 1">
            <a:extLst>
              <a:ext uri="{FF2B5EF4-FFF2-40B4-BE49-F238E27FC236}">
                <a16:creationId xmlns:a16="http://schemas.microsoft.com/office/drawing/2014/main" id="{1317AEAB-EB7C-4D98-AD32-8E79852DABA9}"/>
              </a:ext>
            </a:extLst>
          </p:cNvPr>
          <p:cNvSpPr txBox="1">
            <a:spLocks/>
          </p:cNvSpPr>
          <p:nvPr/>
        </p:nvSpPr>
        <p:spPr>
          <a:xfrm>
            <a:off x="5933088" y="1845168"/>
            <a:ext cx="2848082" cy="134833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b="1" dirty="0">
                <a:latin typeface="+mn-lt"/>
              </a:rPr>
              <a:t>SARIMAX (1,1,1)</a:t>
            </a:r>
          </a:p>
          <a:p>
            <a:r>
              <a:rPr lang="en-US" sz="2000" b="1" dirty="0">
                <a:latin typeface="+mn-lt"/>
              </a:rPr>
              <a:t>AIC: 42.044</a:t>
            </a:r>
          </a:p>
        </p:txBody>
      </p:sp>
      <p:sp>
        <p:nvSpPr>
          <p:cNvPr id="16" name="TextBox 15">
            <a:extLst>
              <a:ext uri="{FF2B5EF4-FFF2-40B4-BE49-F238E27FC236}">
                <a16:creationId xmlns:a16="http://schemas.microsoft.com/office/drawing/2014/main" id="{6AA8DDD3-F8AF-423B-8F4B-62E093A4184F}"/>
              </a:ext>
            </a:extLst>
          </p:cNvPr>
          <p:cNvSpPr txBox="1"/>
          <p:nvPr/>
        </p:nvSpPr>
        <p:spPr>
          <a:xfrm>
            <a:off x="8891723" y="1870063"/>
            <a:ext cx="2829566" cy="1323439"/>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effectLst/>
              </a:rPr>
              <a:t>p = 1 – the maximum lag polynomial specification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600" b="1" dirty="0"/>
              <a:t>d = 1</a:t>
            </a:r>
            <a:r>
              <a:rPr kumimoji="0" lang="en-US" altLang="en-US" sz="1600" b="1" i="0" u="none" strike="noStrike" cap="none" normalizeH="0" baseline="0" dirty="0">
                <a:ln>
                  <a:noFill/>
                </a:ln>
                <a:effectLst/>
              </a:rPr>
              <a:t> is the maximum degree specification</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600" b="1" dirty="0"/>
              <a:t>q</a:t>
            </a:r>
            <a:r>
              <a:rPr kumimoji="0" lang="en-US" altLang="en-US" sz="1600" b="1" i="0" u="none" strike="noStrike" cap="none" normalizeH="0" baseline="0" dirty="0">
                <a:ln>
                  <a:noFill/>
                </a:ln>
                <a:effectLst/>
              </a:rPr>
              <a:t> = 1 is the weighted error</a:t>
            </a:r>
          </a:p>
        </p:txBody>
      </p:sp>
      <p:pic>
        <p:nvPicPr>
          <p:cNvPr id="17" name="Picture 16">
            <a:extLst>
              <a:ext uri="{FF2B5EF4-FFF2-40B4-BE49-F238E27FC236}">
                <a16:creationId xmlns:a16="http://schemas.microsoft.com/office/drawing/2014/main" id="{AE3C22BE-49C9-4B51-9B25-B98C44552A89}"/>
              </a:ext>
            </a:extLst>
          </p:cNvPr>
          <p:cNvPicPr>
            <a:picLocks noChangeAspect="1"/>
          </p:cNvPicPr>
          <p:nvPr/>
        </p:nvPicPr>
        <p:blipFill rotWithShape="1">
          <a:blip r:embed="rId2"/>
          <a:srcRect t="29510" b="52391"/>
          <a:stretch/>
        </p:blipFill>
        <p:spPr>
          <a:xfrm>
            <a:off x="4614296" y="1006565"/>
            <a:ext cx="6844345" cy="447473"/>
          </a:xfrm>
          <a:prstGeom prst="rect">
            <a:avLst/>
          </a:prstGeom>
          <a:ln w="25400">
            <a:solidFill>
              <a:srgbClr val="FF0000"/>
            </a:solidFill>
          </a:ln>
        </p:spPr>
      </p:pic>
      <p:pic>
        <p:nvPicPr>
          <p:cNvPr id="4" name="Picture 3">
            <a:extLst>
              <a:ext uri="{FF2B5EF4-FFF2-40B4-BE49-F238E27FC236}">
                <a16:creationId xmlns:a16="http://schemas.microsoft.com/office/drawing/2014/main" id="{8FC8E191-1B85-4AE0-BE51-960BB208D58D}"/>
              </a:ext>
            </a:extLst>
          </p:cNvPr>
          <p:cNvPicPr>
            <a:picLocks noChangeAspect="1"/>
          </p:cNvPicPr>
          <p:nvPr/>
        </p:nvPicPr>
        <p:blipFill>
          <a:blip r:embed="rId3"/>
          <a:stretch>
            <a:fillRect/>
          </a:stretch>
        </p:blipFill>
        <p:spPr>
          <a:xfrm>
            <a:off x="275148" y="1491429"/>
            <a:ext cx="4789945" cy="2055813"/>
          </a:xfrm>
          <a:prstGeom prst="rect">
            <a:avLst/>
          </a:prstGeom>
        </p:spPr>
      </p:pic>
      <p:pic>
        <p:nvPicPr>
          <p:cNvPr id="18" name="Picture 17">
            <a:extLst>
              <a:ext uri="{FF2B5EF4-FFF2-40B4-BE49-F238E27FC236}">
                <a16:creationId xmlns:a16="http://schemas.microsoft.com/office/drawing/2014/main" id="{86BAB566-9788-459E-93EA-4223913DED55}"/>
              </a:ext>
            </a:extLst>
          </p:cNvPr>
          <p:cNvPicPr>
            <a:picLocks noChangeAspect="1"/>
          </p:cNvPicPr>
          <p:nvPr/>
        </p:nvPicPr>
        <p:blipFill>
          <a:blip r:embed="rId4"/>
          <a:stretch>
            <a:fillRect/>
          </a:stretch>
        </p:blipFill>
        <p:spPr>
          <a:xfrm>
            <a:off x="130114" y="3693923"/>
            <a:ext cx="5901232" cy="2337111"/>
          </a:xfrm>
          <a:prstGeom prst="rect">
            <a:avLst/>
          </a:prstGeom>
        </p:spPr>
      </p:pic>
      <p:sp>
        <p:nvSpPr>
          <p:cNvPr id="14" name="Arrow: Chevron 13">
            <a:extLst>
              <a:ext uri="{FF2B5EF4-FFF2-40B4-BE49-F238E27FC236}">
                <a16:creationId xmlns:a16="http://schemas.microsoft.com/office/drawing/2014/main" id="{2C6E157B-8EDA-4875-83F3-683E27D1A637}"/>
              </a:ext>
            </a:extLst>
          </p:cNvPr>
          <p:cNvSpPr/>
          <p:nvPr/>
        </p:nvSpPr>
        <p:spPr>
          <a:xfrm flipH="1">
            <a:off x="5598608" y="2046447"/>
            <a:ext cx="153100" cy="1039830"/>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5" name="Arrow: Chevron 14">
            <a:extLst>
              <a:ext uri="{FF2B5EF4-FFF2-40B4-BE49-F238E27FC236}">
                <a16:creationId xmlns:a16="http://schemas.microsoft.com/office/drawing/2014/main" id="{5ABF0EBF-0524-48B5-B475-2D78312011BD}"/>
              </a:ext>
            </a:extLst>
          </p:cNvPr>
          <p:cNvSpPr/>
          <p:nvPr/>
        </p:nvSpPr>
        <p:spPr>
          <a:xfrm flipH="1">
            <a:off x="6107680" y="4325264"/>
            <a:ext cx="153100" cy="1039830"/>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0" name="TextBox 19">
            <a:extLst>
              <a:ext uri="{FF2B5EF4-FFF2-40B4-BE49-F238E27FC236}">
                <a16:creationId xmlns:a16="http://schemas.microsoft.com/office/drawing/2014/main" id="{52A6FBB2-6800-4CB3-A033-7A52F99C2212}"/>
              </a:ext>
            </a:extLst>
          </p:cNvPr>
          <p:cNvSpPr txBox="1"/>
          <p:nvPr/>
        </p:nvSpPr>
        <p:spPr>
          <a:xfrm>
            <a:off x="6415571" y="4060349"/>
            <a:ext cx="4731197" cy="1569660"/>
          </a:xfrm>
          <a:prstGeom prst="rect">
            <a:avLst/>
          </a:prstGeom>
          <a:noFill/>
        </p:spPr>
        <p:txBody>
          <a:bodyPr wrap="square">
            <a:spAutoFit/>
          </a:bodyPr>
          <a:lstStyle/>
          <a:p>
            <a:pPr marL="285750" indent="-285750">
              <a:buClr>
                <a:schemeClr val="accent1"/>
              </a:buClr>
              <a:buFont typeface="Wingdings" panose="05000000000000000000" pitchFamily="2" charset="2"/>
              <a:buChar char="Ø"/>
            </a:pPr>
            <a:r>
              <a:rPr lang="en-US" sz="1600" dirty="0"/>
              <a:t>The forecasted data values shows a downward trend in sales Jan-March</a:t>
            </a:r>
          </a:p>
          <a:p>
            <a:pPr marL="285750" indent="-285750">
              <a:buClr>
                <a:schemeClr val="accent1"/>
              </a:buClr>
              <a:buFont typeface="Wingdings" panose="05000000000000000000" pitchFamily="2" charset="2"/>
              <a:buChar char="Ø"/>
            </a:pPr>
            <a:r>
              <a:rPr lang="en-US" sz="1600" dirty="0"/>
              <a:t>Trend picks up during April-July and follows a straight line till September and dips further</a:t>
            </a:r>
          </a:p>
          <a:p>
            <a:pPr marL="285750" indent="-285750">
              <a:buClr>
                <a:schemeClr val="accent1"/>
              </a:buClr>
              <a:buFont typeface="Wingdings" panose="05000000000000000000" pitchFamily="2" charset="2"/>
              <a:buChar char="Ø"/>
            </a:pPr>
            <a:r>
              <a:rPr lang="en-US" sz="1600" dirty="0"/>
              <a:t>Sales are looking disappointing with anticipation of complete loss of sales</a:t>
            </a:r>
          </a:p>
        </p:txBody>
      </p:sp>
    </p:spTree>
    <p:extLst>
      <p:ext uri="{BB962C8B-B14F-4D97-AF65-F5344CB8AC3E}">
        <p14:creationId xmlns:p14="http://schemas.microsoft.com/office/powerpoint/2010/main" val="25366665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B025E058-FCA3-4527-B194-F3282D037860}"/>
              </a:ext>
            </a:extLst>
          </p:cNvPr>
          <p:cNvSpPr>
            <a:spLocks noGrp="1"/>
          </p:cNvSpPr>
          <p:nvPr>
            <p:ph type="sldNum" sz="quarter" idx="12"/>
          </p:nvPr>
        </p:nvSpPr>
        <p:spPr/>
        <p:txBody>
          <a:bodyPr/>
          <a:lstStyle/>
          <a:p>
            <a:fld id="{34B7E4EF-A1BD-40F4-AB7B-04F084DD991D}" type="slidenum">
              <a:rPr lang="en-US" smtClean="0"/>
              <a:t>15</a:t>
            </a:fld>
            <a:endParaRPr lang="en-US" dirty="0"/>
          </a:p>
        </p:txBody>
      </p:sp>
      <p:sp>
        <p:nvSpPr>
          <p:cNvPr id="18" name="Title 1">
            <a:extLst>
              <a:ext uri="{FF2B5EF4-FFF2-40B4-BE49-F238E27FC236}">
                <a16:creationId xmlns:a16="http://schemas.microsoft.com/office/drawing/2014/main" id="{91793722-E0AD-4BCE-9D34-F2B1D7A61A10}"/>
              </a:ext>
            </a:extLst>
          </p:cNvPr>
          <p:cNvSpPr txBox="1">
            <a:spLocks/>
          </p:cNvSpPr>
          <p:nvPr/>
        </p:nvSpPr>
        <p:spPr>
          <a:xfrm>
            <a:off x="0" y="104665"/>
            <a:ext cx="12192000" cy="85569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b="1" dirty="0"/>
              <a:t>Holt's method with Additive Trend &amp; Seasonality</a:t>
            </a:r>
          </a:p>
        </p:txBody>
      </p:sp>
      <p:pic>
        <p:nvPicPr>
          <p:cNvPr id="19" name="Picture 18">
            <a:extLst>
              <a:ext uri="{FF2B5EF4-FFF2-40B4-BE49-F238E27FC236}">
                <a16:creationId xmlns:a16="http://schemas.microsoft.com/office/drawing/2014/main" id="{E31C91CB-DF35-4AFC-BD67-1B34E0B48F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61408" y="1725560"/>
            <a:ext cx="5692392" cy="959246"/>
          </a:xfrm>
          <a:prstGeom prst="rect">
            <a:avLst/>
          </a:prstGeom>
        </p:spPr>
      </p:pic>
      <p:sp>
        <p:nvSpPr>
          <p:cNvPr id="20" name="Arrow: Chevron 19">
            <a:extLst>
              <a:ext uri="{FF2B5EF4-FFF2-40B4-BE49-F238E27FC236}">
                <a16:creationId xmlns:a16="http://schemas.microsoft.com/office/drawing/2014/main" id="{DE0AC4CF-73E2-4DF4-8C0C-C9E46053907B}"/>
              </a:ext>
            </a:extLst>
          </p:cNvPr>
          <p:cNvSpPr/>
          <p:nvPr/>
        </p:nvSpPr>
        <p:spPr>
          <a:xfrm flipH="1">
            <a:off x="5420268" y="1668750"/>
            <a:ext cx="153100" cy="1039830"/>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1" name="Arrow: Chevron 20">
            <a:extLst>
              <a:ext uri="{FF2B5EF4-FFF2-40B4-BE49-F238E27FC236}">
                <a16:creationId xmlns:a16="http://schemas.microsoft.com/office/drawing/2014/main" id="{FA523AEB-8C17-470D-9F5F-B85367DBE06D}"/>
              </a:ext>
            </a:extLst>
          </p:cNvPr>
          <p:cNvSpPr/>
          <p:nvPr/>
        </p:nvSpPr>
        <p:spPr>
          <a:xfrm flipH="1">
            <a:off x="5708758" y="4489835"/>
            <a:ext cx="153100" cy="1039830"/>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2" name="TextBox 21">
            <a:extLst>
              <a:ext uri="{FF2B5EF4-FFF2-40B4-BE49-F238E27FC236}">
                <a16:creationId xmlns:a16="http://schemas.microsoft.com/office/drawing/2014/main" id="{BED1298A-282A-4B08-B907-F560F757E734}"/>
              </a:ext>
            </a:extLst>
          </p:cNvPr>
          <p:cNvSpPr txBox="1"/>
          <p:nvPr/>
        </p:nvSpPr>
        <p:spPr>
          <a:xfrm>
            <a:off x="6184230" y="3977245"/>
            <a:ext cx="4947138" cy="2062103"/>
          </a:xfrm>
          <a:prstGeom prst="rect">
            <a:avLst/>
          </a:prstGeom>
          <a:noFill/>
        </p:spPr>
        <p:txBody>
          <a:bodyPr wrap="square" rtlCol="0">
            <a:spAutoFit/>
          </a:bodyPr>
          <a:lstStyle/>
          <a:p>
            <a:pPr marL="342900" lvl="2" indent="-342900">
              <a:buClr>
                <a:schemeClr val="accent1"/>
              </a:buClr>
              <a:buFont typeface="Wingdings" panose="05000000000000000000" pitchFamily="2" charset="2"/>
              <a:buChar char="Ø"/>
            </a:pPr>
            <a:r>
              <a:rPr lang="en-US" sz="1600" dirty="0"/>
              <a:t>Holt’s gives more significance to recent observations and Forecast the similar trend as ARIMA model</a:t>
            </a:r>
          </a:p>
          <a:p>
            <a:pPr marL="342900" indent="-342900">
              <a:buClr>
                <a:schemeClr val="accent1"/>
              </a:buClr>
              <a:buFont typeface="Wingdings" panose="05000000000000000000" pitchFamily="2" charset="2"/>
              <a:buChar char="Ø"/>
            </a:pPr>
            <a:r>
              <a:rPr lang="en-US" sz="1600" dirty="0"/>
              <a:t>The forecasted data values shows an upward trend in sales around Jan-Feb followed by a drop in March</a:t>
            </a:r>
          </a:p>
          <a:p>
            <a:pPr marL="342900" indent="-342900">
              <a:buClr>
                <a:schemeClr val="accent1"/>
              </a:buClr>
              <a:buFont typeface="Wingdings" panose="05000000000000000000" pitchFamily="2" charset="2"/>
              <a:buChar char="Ø"/>
            </a:pPr>
            <a:r>
              <a:rPr lang="en-US" sz="1600" dirty="0"/>
              <a:t>Again, There is a constant increase in the trend around March-October followed by drop in year end</a:t>
            </a:r>
          </a:p>
          <a:p>
            <a:pPr marL="342900" indent="-342900">
              <a:buClr>
                <a:schemeClr val="accent1"/>
              </a:buClr>
              <a:buFont typeface="Wingdings" panose="05000000000000000000" pitchFamily="2" charset="2"/>
              <a:buChar char="Ø"/>
            </a:pPr>
            <a:r>
              <a:rPr lang="en-US" sz="1600" dirty="0"/>
              <a:t>The sales are good during Kharif season and Rabi season                              </a:t>
            </a:r>
          </a:p>
        </p:txBody>
      </p:sp>
      <p:sp>
        <p:nvSpPr>
          <p:cNvPr id="23" name="TextBox 22">
            <a:extLst>
              <a:ext uri="{FF2B5EF4-FFF2-40B4-BE49-F238E27FC236}">
                <a16:creationId xmlns:a16="http://schemas.microsoft.com/office/drawing/2014/main" id="{78204883-513B-4D23-8E54-E19B16CD6E9E}"/>
              </a:ext>
            </a:extLst>
          </p:cNvPr>
          <p:cNvSpPr txBox="1"/>
          <p:nvPr/>
        </p:nvSpPr>
        <p:spPr>
          <a:xfrm>
            <a:off x="6881447" y="2264934"/>
            <a:ext cx="5005754" cy="369332"/>
          </a:xfrm>
          <a:prstGeom prst="rect">
            <a:avLst/>
          </a:prstGeom>
          <a:noFill/>
        </p:spPr>
        <p:txBody>
          <a:bodyPr wrap="square" rtlCol="0">
            <a:spAutoFit/>
          </a:bodyPr>
          <a:lstStyle/>
          <a:p>
            <a:endParaRPr lang="en-US" dirty="0"/>
          </a:p>
        </p:txBody>
      </p:sp>
      <p:pic>
        <p:nvPicPr>
          <p:cNvPr id="24" name="Picture 23">
            <a:extLst>
              <a:ext uri="{FF2B5EF4-FFF2-40B4-BE49-F238E27FC236}">
                <a16:creationId xmlns:a16="http://schemas.microsoft.com/office/drawing/2014/main" id="{E130B646-7770-4975-9F39-1742DE3EC2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4072" y="934399"/>
            <a:ext cx="4908863" cy="2603248"/>
          </a:xfrm>
          <a:prstGeom prst="rect">
            <a:avLst/>
          </a:prstGeom>
        </p:spPr>
      </p:pic>
      <p:pic>
        <p:nvPicPr>
          <p:cNvPr id="25" name="Picture 24">
            <a:extLst>
              <a:ext uri="{FF2B5EF4-FFF2-40B4-BE49-F238E27FC236}">
                <a16:creationId xmlns:a16="http://schemas.microsoft.com/office/drawing/2014/main" id="{EEF123A7-450D-453B-9C4F-6CEE74F3E04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6673" y="3711610"/>
            <a:ext cx="5347594" cy="2716538"/>
          </a:xfrm>
          <a:prstGeom prst="rect">
            <a:avLst/>
          </a:prstGeom>
        </p:spPr>
      </p:pic>
    </p:spTree>
    <p:extLst>
      <p:ext uri="{BB962C8B-B14F-4D97-AF65-F5344CB8AC3E}">
        <p14:creationId xmlns:p14="http://schemas.microsoft.com/office/powerpoint/2010/main" val="35529184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C6EF77-989E-4483-AD3A-D30DB25F00D7}"/>
              </a:ext>
            </a:extLst>
          </p:cNvPr>
          <p:cNvSpPr>
            <a:spLocks noGrp="1"/>
          </p:cNvSpPr>
          <p:nvPr>
            <p:ph type="title"/>
          </p:nvPr>
        </p:nvSpPr>
        <p:spPr>
          <a:xfrm>
            <a:off x="0" y="136526"/>
            <a:ext cx="12192000" cy="740930"/>
          </a:xfrm>
        </p:spPr>
        <p:txBody>
          <a:bodyPr>
            <a:normAutofit/>
          </a:bodyPr>
          <a:lstStyle/>
          <a:p>
            <a:pPr algn="ctr"/>
            <a:r>
              <a:rPr lang="en-IN" sz="4000" dirty="0"/>
              <a:t>In Conclusion</a:t>
            </a:r>
          </a:p>
        </p:txBody>
      </p:sp>
      <p:sp>
        <p:nvSpPr>
          <p:cNvPr id="5" name="Slide Number Placeholder 4">
            <a:extLst>
              <a:ext uri="{FF2B5EF4-FFF2-40B4-BE49-F238E27FC236}">
                <a16:creationId xmlns:a16="http://schemas.microsoft.com/office/drawing/2014/main" id="{412C94DA-0522-462F-8242-3175A9A37148}"/>
              </a:ext>
            </a:extLst>
          </p:cNvPr>
          <p:cNvSpPr>
            <a:spLocks noGrp="1"/>
          </p:cNvSpPr>
          <p:nvPr>
            <p:ph type="sldNum" sz="quarter" idx="12"/>
          </p:nvPr>
        </p:nvSpPr>
        <p:spPr/>
        <p:txBody>
          <a:bodyPr/>
          <a:lstStyle/>
          <a:p>
            <a:fld id="{34B7E4EF-A1BD-40F4-AB7B-04F084DD991D}" type="slidenum">
              <a:rPr lang="en-US" smtClean="0"/>
              <a:t>16</a:t>
            </a:fld>
            <a:endParaRPr lang="en-US" dirty="0"/>
          </a:p>
        </p:txBody>
      </p:sp>
      <p:sp>
        <p:nvSpPr>
          <p:cNvPr id="9" name="TextBox 8">
            <a:extLst>
              <a:ext uri="{FF2B5EF4-FFF2-40B4-BE49-F238E27FC236}">
                <a16:creationId xmlns:a16="http://schemas.microsoft.com/office/drawing/2014/main" id="{B557D8B5-0069-4906-B157-85C64B3D19D5}"/>
              </a:ext>
            </a:extLst>
          </p:cNvPr>
          <p:cNvSpPr txBox="1"/>
          <p:nvPr/>
        </p:nvSpPr>
        <p:spPr>
          <a:xfrm>
            <a:off x="573932" y="1157591"/>
            <a:ext cx="10972800" cy="6529993"/>
          </a:xfrm>
          <a:prstGeom prst="rect">
            <a:avLst/>
          </a:prstGeom>
          <a:noFill/>
        </p:spPr>
        <p:txBody>
          <a:bodyPr wrap="square">
            <a:spAutoFit/>
          </a:bodyPr>
          <a:lstStyle/>
          <a:p>
            <a:pPr marL="800100" lvl="1" indent="-342900">
              <a:lnSpc>
                <a:spcPct val="80000"/>
              </a:lnSpc>
              <a:spcBef>
                <a:spcPts val="1000"/>
              </a:spcBef>
              <a:buClr>
                <a:schemeClr val="accent1"/>
              </a:buClr>
              <a:buFont typeface="Wingdings" panose="05000000000000000000" pitchFamily="2" charset="2"/>
              <a:buChar char="Ø"/>
            </a:pPr>
            <a:r>
              <a:rPr lang="en-IN" sz="1400" b="1" dirty="0"/>
              <a:t>From State wise Pesticide Sales Analysis we can infer -</a:t>
            </a:r>
          </a:p>
          <a:p>
            <a:pPr marL="1257300" lvl="2" indent="-342900">
              <a:lnSpc>
                <a:spcPct val="80000"/>
              </a:lnSpc>
              <a:spcBef>
                <a:spcPts val="1000"/>
              </a:spcBef>
              <a:buClr>
                <a:schemeClr val="accent1"/>
              </a:buClr>
              <a:buFont typeface="Wingdings" panose="05000000000000000000" pitchFamily="2" charset="2"/>
              <a:buChar char="Ø"/>
            </a:pPr>
            <a:r>
              <a:rPr lang="en-IN" sz="1400" dirty="0"/>
              <a:t>Marginal decline in Pesticide consumption</a:t>
            </a:r>
          </a:p>
          <a:p>
            <a:pPr marL="1257300" lvl="2" indent="-342900">
              <a:lnSpc>
                <a:spcPct val="80000"/>
              </a:lnSpc>
              <a:spcBef>
                <a:spcPts val="1000"/>
              </a:spcBef>
              <a:buClr>
                <a:schemeClr val="accent1"/>
              </a:buClr>
              <a:buFont typeface="Wingdings" panose="05000000000000000000" pitchFamily="2" charset="2"/>
              <a:buChar char="Ø"/>
            </a:pPr>
            <a:r>
              <a:rPr lang="en-IN" sz="1400" dirty="0"/>
              <a:t>Bactericides sales is promising and investment opportunity</a:t>
            </a:r>
          </a:p>
          <a:p>
            <a:pPr marL="800100" lvl="1" indent="-342900">
              <a:lnSpc>
                <a:spcPct val="80000"/>
              </a:lnSpc>
              <a:spcBef>
                <a:spcPts val="1000"/>
              </a:spcBef>
              <a:buClr>
                <a:schemeClr val="accent1"/>
              </a:buClr>
              <a:buFont typeface="Wingdings" panose="05000000000000000000" pitchFamily="2" charset="2"/>
              <a:buChar char="Ø"/>
            </a:pPr>
            <a:r>
              <a:rPr lang="en-IN" sz="1400" b="1" dirty="0"/>
              <a:t>From District Sales Analysis</a:t>
            </a:r>
          </a:p>
          <a:p>
            <a:pPr marL="1257300" lvl="2" indent="-342900">
              <a:lnSpc>
                <a:spcPct val="80000"/>
              </a:lnSpc>
              <a:spcBef>
                <a:spcPts val="1000"/>
              </a:spcBef>
              <a:buClr>
                <a:schemeClr val="accent1"/>
              </a:buClr>
              <a:buFont typeface="Wingdings" panose="05000000000000000000" pitchFamily="2" charset="2"/>
              <a:buChar char="Ø"/>
            </a:pPr>
            <a:r>
              <a:rPr lang="en-IN" sz="1400" dirty="0"/>
              <a:t>Top districts can also include Haryana, Himachal Pradesh and Uttarakhand</a:t>
            </a:r>
          </a:p>
          <a:p>
            <a:pPr marL="1257300" lvl="2" indent="-342900">
              <a:lnSpc>
                <a:spcPct val="80000"/>
              </a:lnSpc>
              <a:spcBef>
                <a:spcPts val="1000"/>
              </a:spcBef>
              <a:buClr>
                <a:schemeClr val="accent1"/>
              </a:buClr>
              <a:buFont typeface="Wingdings" panose="05000000000000000000" pitchFamily="2" charset="2"/>
              <a:buChar char="Ø"/>
            </a:pPr>
            <a:r>
              <a:rPr lang="en-IN" sz="1400" dirty="0"/>
              <a:t>The bottom districts sales can significantly be improved where there is &lt; 75,000 sale</a:t>
            </a:r>
          </a:p>
          <a:p>
            <a:pPr marL="800100" lvl="1" indent="-342900">
              <a:lnSpc>
                <a:spcPct val="80000"/>
              </a:lnSpc>
              <a:spcBef>
                <a:spcPts val="1000"/>
              </a:spcBef>
              <a:buClr>
                <a:schemeClr val="accent1"/>
              </a:buClr>
              <a:buFont typeface="Wingdings" panose="05000000000000000000" pitchFamily="2" charset="2"/>
              <a:buChar char="Ø"/>
            </a:pPr>
            <a:r>
              <a:rPr lang="en-IN" sz="1400" b="1" dirty="0"/>
              <a:t>From State wise Population Analysis</a:t>
            </a:r>
          </a:p>
          <a:p>
            <a:pPr marL="1257300" lvl="2" indent="-342900">
              <a:lnSpc>
                <a:spcPct val="80000"/>
              </a:lnSpc>
              <a:spcBef>
                <a:spcPts val="1000"/>
              </a:spcBef>
              <a:buClr>
                <a:schemeClr val="accent1"/>
              </a:buClr>
              <a:buFont typeface="Wingdings" panose="05000000000000000000" pitchFamily="2" charset="2"/>
              <a:buChar char="Ø"/>
            </a:pPr>
            <a:r>
              <a:rPr lang="en-IN" sz="1400" dirty="0"/>
              <a:t>Non proportional sales compared to state population is an opportunity</a:t>
            </a:r>
          </a:p>
          <a:p>
            <a:pPr marL="1257300" lvl="2" indent="-342900">
              <a:lnSpc>
                <a:spcPct val="80000"/>
              </a:lnSpc>
              <a:spcBef>
                <a:spcPts val="1000"/>
              </a:spcBef>
              <a:buClr>
                <a:schemeClr val="accent1"/>
              </a:buClr>
              <a:buFont typeface="Wingdings" panose="05000000000000000000" pitchFamily="2" charset="2"/>
              <a:buChar char="Ø"/>
            </a:pPr>
            <a:r>
              <a:rPr lang="en-IN" sz="1400" dirty="0"/>
              <a:t>Decadal growth can be considered for future campaigns</a:t>
            </a:r>
          </a:p>
          <a:p>
            <a:pPr marL="800100" lvl="1" indent="-342900">
              <a:lnSpc>
                <a:spcPct val="80000"/>
              </a:lnSpc>
              <a:spcBef>
                <a:spcPts val="1000"/>
              </a:spcBef>
              <a:buClr>
                <a:schemeClr val="accent1"/>
              </a:buClr>
              <a:buFont typeface="Wingdings" panose="05000000000000000000" pitchFamily="2" charset="2"/>
              <a:buChar char="Ø"/>
            </a:pPr>
            <a:r>
              <a:rPr lang="en-IN" sz="1400" b="1" dirty="0"/>
              <a:t>From Month consumption details suggest, </a:t>
            </a:r>
          </a:p>
          <a:p>
            <a:pPr marL="1257300" lvl="2" indent="-342900">
              <a:lnSpc>
                <a:spcPct val="80000"/>
              </a:lnSpc>
              <a:spcBef>
                <a:spcPts val="1000"/>
              </a:spcBef>
              <a:buClr>
                <a:schemeClr val="accent1"/>
              </a:buClr>
              <a:buFont typeface="Wingdings" panose="05000000000000000000" pitchFamily="2" charset="2"/>
              <a:buChar char="Ø"/>
            </a:pPr>
            <a:r>
              <a:rPr lang="en-IN" sz="1400" dirty="0"/>
              <a:t>Corresponding to Kharif and Rabi seasons marketing pesticides</a:t>
            </a:r>
          </a:p>
          <a:p>
            <a:pPr marL="1257300" lvl="2" indent="-342900">
              <a:lnSpc>
                <a:spcPct val="80000"/>
              </a:lnSpc>
              <a:spcBef>
                <a:spcPts val="1000"/>
              </a:spcBef>
              <a:buClr>
                <a:schemeClr val="accent1"/>
              </a:buClr>
              <a:buFont typeface="Wingdings" panose="05000000000000000000" pitchFamily="2" charset="2"/>
              <a:buChar char="Ø"/>
            </a:pPr>
            <a:r>
              <a:rPr lang="en-IN" sz="1400" dirty="0"/>
              <a:t>Segmented focus for various pesticide types</a:t>
            </a:r>
          </a:p>
          <a:p>
            <a:pPr marL="800100" lvl="1" indent="-342900">
              <a:lnSpc>
                <a:spcPct val="80000"/>
              </a:lnSpc>
              <a:spcBef>
                <a:spcPts val="1000"/>
              </a:spcBef>
              <a:buClr>
                <a:schemeClr val="accent1"/>
              </a:buClr>
              <a:buFont typeface="Wingdings" panose="05000000000000000000" pitchFamily="2" charset="2"/>
              <a:buChar char="Ø"/>
            </a:pPr>
            <a:r>
              <a:rPr lang="en-IN" sz="1400" b="1" dirty="0"/>
              <a:t>From Competition data analysis -</a:t>
            </a:r>
          </a:p>
          <a:p>
            <a:pPr marL="1257300" lvl="2" indent="-342900">
              <a:lnSpc>
                <a:spcPct val="80000"/>
              </a:lnSpc>
              <a:spcBef>
                <a:spcPts val="1000"/>
              </a:spcBef>
              <a:buClr>
                <a:schemeClr val="accent1"/>
              </a:buClr>
              <a:buFont typeface="Wingdings" panose="05000000000000000000" pitchFamily="2" charset="2"/>
              <a:buChar char="Ø"/>
            </a:pPr>
            <a:r>
              <a:rPr lang="en-IN" sz="1400" dirty="0"/>
              <a:t>Opportunity to improve for Punjab and Haryana market shares</a:t>
            </a:r>
          </a:p>
          <a:p>
            <a:pPr marL="1257300" lvl="2" indent="-342900">
              <a:lnSpc>
                <a:spcPct val="80000"/>
              </a:lnSpc>
              <a:spcBef>
                <a:spcPts val="1000"/>
              </a:spcBef>
              <a:buClr>
                <a:schemeClr val="accent1"/>
              </a:buClr>
              <a:buFont typeface="Wingdings" panose="05000000000000000000" pitchFamily="2" charset="2"/>
              <a:buChar char="Ø"/>
            </a:pPr>
            <a:r>
              <a:rPr lang="en-IN" sz="1400" dirty="0"/>
              <a:t>Opportunity to establish in bactericides</a:t>
            </a:r>
          </a:p>
          <a:p>
            <a:pPr marL="1257300" lvl="2" indent="-342900">
              <a:lnSpc>
                <a:spcPct val="80000"/>
              </a:lnSpc>
              <a:spcBef>
                <a:spcPts val="1000"/>
              </a:spcBef>
              <a:buClr>
                <a:schemeClr val="accent1"/>
              </a:buClr>
              <a:buFont typeface="Wingdings" panose="05000000000000000000" pitchFamily="2" charset="2"/>
              <a:buChar char="Ø"/>
            </a:pPr>
            <a:r>
              <a:rPr lang="en-IN" sz="1400" dirty="0"/>
              <a:t>Improve Insecticides and Rodenticides shares</a:t>
            </a:r>
          </a:p>
          <a:p>
            <a:pPr lvl="1">
              <a:lnSpc>
                <a:spcPct val="80000"/>
              </a:lnSpc>
              <a:spcBef>
                <a:spcPts val="1000"/>
              </a:spcBef>
              <a:buClr>
                <a:schemeClr val="accent1"/>
              </a:buClr>
            </a:pPr>
            <a:endParaRPr lang="en-IN" sz="1400" dirty="0"/>
          </a:p>
          <a:p>
            <a:pPr marL="1257300" lvl="2" indent="-342900">
              <a:lnSpc>
                <a:spcPct val="80000"/>
              </a:lnSpc>
              <a:spcBef>
                <a:spcPts val="1000"/>
              </a:spcBef>
              <a:buClr>
                <a:schemeClr val="accent1"/>
              </a:buClr>
              <a:buFont typeface="Wingdings 3" charset="2"/>
              <a:buChar char=""/>
            </a:pPr>
            <a:endParaRPr lang="en-IN" sz="1400" dirty="0"/>
          </a:p>
          <a:p>
            <a:pPr marL="1257300" lvl="2" indent="-342900">
              <a:lnSpc>
                <a:spcPct val="80000"/>
              </a:lnSpc>
              <a:spcBef>
                <a:spcPts val="1000"/>
              </a:spcBef>
              <a:buClr>
                <a:schemeClr val="accent1"/>
              </a:buClr>
              <a:buFont typeface="Wingdings 3" charset="2"/>
              <a:buChar char=""/>
            </a:pPr>
            <a:endParaRPr lang="en-IN" sz="1400" dirty="0"/>
          </a:p>
          <a:p>
            <a:pPr marL="1257300" lvl="2" indent="-342900">
              <a:lnSpc>
                <a:spcPct val="80000"/>
              </a:lnSpc>
              <a:spcBef>
                <a:spcPts val="1000"/>
              </a:spcBef>
              <a:buClr>
                <a:schemeClr val="accent1"/>
              </a:buClr>
              <a:buFont typeface="Wingdings 3" charset="2"/>
              <a:buChar char=""/>
            </a:pPr>
            <a:endParaRPr lang="en-IN" sz="1400" dirty="0"/>
          </a:p>
          <a:p>
            <a:r>
              <a:rPr lang="en-IN" dirty="0"/>
              <a:t>	</a:t>
            </a:r>
          </a:p>
          <a:p>
            <a:endParaRPr lang="en-IN" dirty="0"/>
          </a:p>
        </p:txBody>
      </p:sp>
    </p:spTree>
    <p:extLst>
      <p:ext uri="{BB962C8B-B14F-4D97-AF65-F5344CB8AC3E}">
        <p14:creationId xmlns:p14="http://schemas.microsoft.com/office/powerpoint/2010/main" val="31905866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1867A-7441-4281-BA00-11DAAD0F8753}"/>
              </a:ext>
            </a:extLst>
          </p:cNvPr>
          <p:cNvSpPr>
            <a:spLocks noGrp="1"/>
          </p:cNvSpPr>
          <p:nvPr>
            <p:ph type="title"/>
          </p:nvPr>
        </p:nvSpPr>
        <p:spPr>
          <a:xfrm>
            <a:off x="0" y="136525"/>
            <a:ext cx="12192000" cy="768147"/>
          </a:xfrm>
        </p:spPr>
        <p:txBody>
          <a:bodyPr/>
          <a:lstStyle/>
          <a:p>
            <a:pPr algn="ctr"/>
            <a:r>
              <a:rPr lang="en-IN" dirty="0"/>
              <a:t>Recommendations for ABC</a:t>
            </a:r>
            <a:endParaRPr lang="en-US" dirty="0"/>
          </a:p>
        </p:txBody>
      </p:sp>
      <p:sp>
        <p:nvSpPr>
          <p:cNvPr id="3" name="Content Placeholder 2">
            <a:extLst>
              <a:ext uri="{FF2B5EF4-FFF2-40B4-BE49-F238E27FC236}">
                <a16:creationId xmlns:a16="http://schemas.microsoft.com/office/drawing/2014/main" id="{6A0B4F0E-8E5E-4A1C-9F51-2FAEFE02B3C1}"/>
              </a:ext>
            </a:extLst>
          </p:cNvPr>
          <p:cNvSpPr>
            <a:spLocks noGrp="1"/>
          </p:cNvSpPr>
          <p:nvPr>
            <p:ph idx="1"/>
          </p:nvPr>
        </p:nvSpPr>
        <p:spPr>
          <a:xfrm>
            <a:off x="419911" y="952542"/>
            <a:ext cx="10515600" cy="5403808"/>
          </a:xfrm>
        </p:spPr>
        <p:txBody>
          <a:bodyPr>
            <a:normAutofit/>
          </a:bodyPr>
          <a:lstStyle/>
          <a:p>
            <a:pPr marL="800100" lvl="1" indent="-342900">
              <a:lnSpc>
                <a:spcPct val="80000"/>
              </a:lnSpc>
              <a:spcBef>
                <a:spcPts val="1000"/>
              </a:spcBef>
              <a:buClr>
                <a:schemeClr val="accent1"/>
              </a:buClr>
              <a:buFont typeface="Wingdings" panose="05000000000000000000" pitchFamily="2" charset="2"/>
              <a:buChar char="Ø"/>
            </a:pPr>
            <a:r>
              <a:rPr lang="en-IN" sz="1400" b="1" dirty="0"/>
              <a:t>From Rainfall data analysis </a:t>
            </a:r>
          </a:p>
          <a:p>
            <a:pPr marL="1257300" lvl="2" indent="-342900">
              <a:lnSpc>
                <a:spcPct val="80000"/>
              </a:lnSpc>
              <a:spcBef>
                <a:spcPts val="1000"/>
              </a:spcBef>
              <a:buClr>
                <a:schemeClr val="accent1"/>
              </a:buClr>
              <a:buFont typeface="Wingdings" panose="05000000000000000000" pitchFamily="2" charset="2"/>
              <a:buChar char="Ø"/>
            </a:pPr>
            <a:r>
              <a:rPr lang="en-IN" sz="1400" dirty="0"/>
              <a:t>The Adequate rainfall is having impact on the sales of Pesticides, observed in the states Uttar Pradesh and Punjab.</a:t>
            </a:r>
          </a:p>
          <a:p>
            <a:pPr marL="1257300" lvl="2" indent="-342900">
              <a:lnSpc>
                <a:spcPct val="80000"/>
              </a:lnSpc>
              <a:spcBef>
                <a:spcPts val="1000"/>
              </a:spcBef>
              <a:buClr>
                <a:schemeClr val="accent1"/>
              </a:buClr>
              <a:buFont typeface="Wingdings" panose="05000000000000000000" pitchFamily="2" charset="2"/>
              <a:buChar char="Ø"/>
            </a:pPr>
            <a:r>
              <a:rPr lang="en-IN" sz="1400" dirty="0"/>
              <a:t>Heavy rainfall and Low rainfall is not impacting much on Pesticide sales</a:t>
            </a:r>
          </a:p>
          <a:p>
            <a:pPr marL="800100" lvl="1" indent="-342900">
              <a:lnSpc>
                <a:spcPct val="80000"/>
              </a:lnSpc>
              <a:spcBef>
                <a:spcPts val="1000"/>
              </a:spcBef>
              <a:buClr>
                <a:schemeClr val="accent1"/>
              </a:buClr>
              <a:buFont typeface="Wingdings" panose="05000000000000000000" pitchFamily="2" charset="2"/>
              <a:buChar char="Ø"/>
            </a:pPr>
            <a:r>
              <a:rPr lang="en-IN" sz="1400" b="1" dirty="0"/>
              <a:t>From State wise Crop Analysis</a:t>
            </a:r>
          </a:p>
          <a:p>
            <a:pPr marL="1257300" lvl="2" indent="-342900">
              <a:lnSpc>
                <a:spcPct val="80000"/>
              </a:lnSpc>
              <a:spcBef>
                <a:spcPts val="1000"/>
              </a:spcBef>
              <a:buClr>
                <a:schemeClr val="accent1"/>
              </a:buClr>
              <a:buFont typeface="Wingdings" panose="05000000000000000000" pitchFamily="2" charset="2"/>
              <a:buChar char="Ø"/>
            </a:pPr>
            <a:r>
              <a:rPr lang="en-US" sz="1400" dirty="0"/>
              <a:t>As per the crop cultivation of different states it can be stated that ABC Manufacturing is selling less Herbicides which is consider to be a major pesticides for Wheat and Sugarcane considering all the states producing high volume of Sugarcane and wheat</a:t>
            </a:r>
          </a:p>
          <a:p>
            <a:pPr marL="1257300" lvl="2" indent="-342900">
              <a:lnSpc>
                <a:spcPct val="80000"/>
              </a:lnSpc>
              <a:spcBef>
                <a:spcPts val="1000"/>
              </a:spcBef>
              <a:buClr>
                <a:schemeClr val="accent1"/>
              </a:buClr>
              <a:buFont typeface="Wingdings" panose="05000000000000000000" pitchFamily="2" charset="2"/>
              <a:buChar char="Ø"/>
            </a:pPr>
            <a:r>
              <a:rPr lang="en-US" sz="1400" dirty="0"/>
              <a:t>Company can make considerable profit by selling Herbicides and Bactericides, as Herbicides’ sales is less and company not making any sales in Bactericides</a:t>
            </a:r>
          </a:p>
          <a:p>
            <a:pPr marL="800100" lvl="1" indent="-342900">
              <a:lnSpc>
                <a:spcPct val="80000"/>
              </a:lnSpc>
              <a:buClr>
                <a:schemeClr val="accent1"/>
              </a:buClr>
              <a:buFont typeface="Wingdings" panose="05000000000000000000" pitchFamily="2" charset="2"/>
              <a:buChar char="Ø"/>
            </a:pPr>
            <a:r>
              <a:rPr lang="en-US" sz="1400" b="1" dirty="0"/>
              <a:t>ARIMA Model</a:t>
            </a:r>
          </a:p>
          <a:p>
            <a:pPr marL="1257300" lvl="2" indent="-342900">
              <a:lnSpc>
                <a:spcPct val="80000"/>
              </a:lnSpc>
              <a:buClr>
                <a:schemeClr val="accent1"/>
              </a:buClr>
              <a:buFont typeface="Wingdings" panose="05000000000000000000" pitchFamily="2" charset="2"/>
              <a:buChar char="Ø"/>
            </a:pPr>
            <a:r>
              <a:rPr lang="en-US" sz="1400" dirty="0"/>
              <a:t>Sales of pesticides is in lieu of the past year trends; the sell is forecasted to be rising in the middle month and drop by the year ending 2018-2019</a:t>
            </a:r>
          </a:p>
          <a:p>
            <a:pPr marL="800100" lvl="1" indent="-342900">
              <a:lnSpc>
                <a:spcPct val="80000"/>
              </a:lnSpc>
              <a:buClr>
                <a:schemeClr val="accent1"/>
              </a:buClr>
              <a:buFont typeface="Wingdings" panose="05000000000000000000" pitchFamily="2" charset="2"/>
              <a:buChar char="Ø"/>
            </a:pPr>
            <a:r>
              <a:rPr lang="en-IN" sz="1400" b="1" dirty="0"/>
              <a:t>SARIMAX Model</a:t>
            </a:r>
          </a:p>
          <a:p>
            <a:pPr marL="1257300" lvl="2" indent="-342900">
              <a:lnSpc>
                <a:spcPct val="80000"/>
              </a:lnSpc>
              <a:buClr>
                <a:schemeClr val="accent1"/>
              </a:buClr>
              <a:buFont typeface="Wingdings" panose="05000000000000000000" pitchFamily="2" charset="2"/>
              <a:buChar char="Ø"/>
            </a:pPr>
            <a:r>
              <a:rPr lang="en-IN" sz="1400" dirty="0"/>
              <a:t>Sales of pesticides tend to falls drastically in the beginning of the year and stay constant by the end of year ending 2018-2019</a:t>
            </a:r>
          </a:p>
          <a:p>
            <a:pPr marL="800100" lvl="1" indent="-342900">
              <a:lnSpc>
                <a:spcPct val="80000"/>
              </a:lnSpc>
              <a:buClr>
                <a:schemeClr val="accent1"/>
              </a:buClr>
              <a:buFont typeface="Wingdings" panose="05000000000000000000" pitchFamily="2" charset="2"/>
              <a:buChar char="Ø"/>
            </a:pPr>
            <a:r>
              <a:rPr lang="en-US" sz="1400" b="1" dirty="0"/>
              <a:t>Holt's method with Additive Trend &amp; Seasonality</a:t>
            </a:r>
            <a:endParaRPr lang="en-US" sz="1400" dirty="0"/>
          </a:p>
          <a:p>
            <a:pPr marL="1257300" lvl="2" indent="-342900">
              <a:lnSpc>
                <a:spcPct val="80000"/>
              </a:lnSpc>
              <a:buClr>
                <a:schemeClr val="accent1"/>
              </a:buClr>
              <a:buFont typeface="Wingdings" panose="05000000000000000000" pitchFamily="2" charset="2"/>
              <a:buChar char="Ø"/>
            </a:pPr>
            <a:r>
              <a:rPr lang="en-US" sz="1400" dirty="0"/>
              <a:t>Sales of pesticides tend to increase drastically and drops  down in the beginning of the year 2018.Then slowly rises  in the middle of the year and followed by drop in the end of year 2018-2019.</a:t>
            </a:r>
          </a:p>
          <a:p>
            <a:pPr marL="914400" lvl="2" indent="0">
              <a:lnSpc>
                <a:spcPct val="80000"/>
              </a:lnSpc>
              <a:buClr>
                <a:schemeClr val="accent1"/>
              </a:buClr>
              <a:buNone/>
            </a:pPr>
            <a:endParaRPr lang="en-US" sz="1400" dirty="0"/>
          </a:p>
          <a:p>
            <a:pPr marL="0" indent="0" algn="ctr">
              <a:lnSpc>
                <a:spcPct val="80000"/>
              </a:lnSpc>
              <a:buClr>
                <a:schemeClr val="accent1"/>
              </a:buClr>
              <a:buNone/>
            </a:pPr>
            <a:r>
              <a:rPr lang="en-US" sz="2000" dirty="0">
                <a:latin typeface="Comic Sans MS" panose="030F0702030302020204" pitchFamily="66" charset="0"/>
              </a:rPr>
              <a:t>As per the test result, we found out that ARIMA model has the least error in forecasting the sales values, therefore, the ARIMA model is best fit for forecasting the sales of the pesticides for the year 2018-2019 of ABC manufacturing company.</a:t>
            </a:r>
          </a:p>
          <a:p>
            <a:pPr marL="0" indent="0">
              <a:lnSpc>
                <a:spcPct val="80000"/>
              </a:lnSpc>
              <a:buClr>
                <a:schemeClr val="accent1"/>
              </a:buClr>
              <a:buNone/>
            </a:pPr>
            <a:endParaRPr lang="en-IN" sz="2200" dirty="0"/>
          </a:p>
          <a:p>
            <a:pPr marL="800100" lvl="1" indent="-342900">
              <a:lnSpc>
                <a:spcPct val="80000"/>
              </a:lnSpc>
              <a:buClr>
                <a:schemeClr val="accent1"/>
              </a:buClr>
              <a:buFont typeface="Wingdings" panose="05000000000000000000" pitchFamily="2" charset="2"/>
              <a:buChar char="Ø"/>
            </a:pPr>
            <a:endParaRPr lang="en-US" sz="1400" dirty="0"/>
          </a:p>
          <a:p>
            <a:pPr marL="800100" lvl="1" indent="-342900">
              <a:lnSpc>
                <a:spcPct val="80000"/>
              </a:lnSpc>
              <a:buClr>
                <a:schemeClr val="accent1"/>
              </a:buClr>
              <a:buFont typeface="Wingdings" panose="05000000000000000000" pitchFamily="2" charset="2"/>
              <a:buChar char="Ø"/>
            </a:pPr>
            <a:endParaRPr lang="en-US" sz="1400" dirty="0"/>
          </a:p>
          <a:p>
            <a:pPr marL="1257300" lvl="2" indent="-342900">
              <a:lnSpc>
                <a:spcPct val="80000"/>
              </a:lnSpc>
              <a:spcBef>
                <a:spcPts val="1000"/>
              </a:spcBef>
              <a:buClr>
                <a:schemeClr val="accent1"/>
              </a:buClr>
              <a:buFont typeface="Wingdings" panose="05000000000000000000" pitchFamily="2" charset="2"/>
              <a:buChar char="Ø"/>
            </a:pPr>
            <a:endParaRPr lang="en-IN" sz="1400" dirty="0"/>
          </a:p>
          <a:p>
            <a:endParaRPr lang="en-US" sz="1400" dirty="0"/>
          </a:p>
        </p:txBody>
      </p:sp>
      <p:sp>
        <p:nvSpPr>
          <p:cNvPr id="5" name="Slide Number Placeholder 4">
            <a:extLst>
              <a:ext uri="{FF2B5EF4-FFF2-40B4-BE49-F238E27FC236}">
                <a16:creationId xmlns:a16="http://schemas.microsoft.com/office/drawing/2014/main" id="{B1C80CE8-F9ED-4B1E-9DAB-811D15BC9077}"/>
              </a:ext>
            </a:extLst>
          </p:cNvPr>
          <p:cNvSpPr>
            <a:spLocks noGrp="1"/>
          </p:cNvSpPr>
          <p:nvPr>
            <p:ph type="sldNum" sz="quarter" idx="12"/>
          </p:nvPr>
        </p:nvSpPr>
        <p:spPr/>
        <p:txBody>
          <a:bodyPr/>
          <a:lstStyle/>
          <a:p>
            <a:fld id="{34B7E4EF-A1BD-40F4-AB7B-04F084DD991D}" type="slidenum">
              <a:rPr lang="en-US" smtClean="0"/>
              <a:t>17</a:t>
            </a:fld>
            <a:endParaRPr lang="en-US" dirty="0"/>
          </a:p>
        </p:txBody>
      </p:sp>
    </p:spTree>
    <p:extLst>
      <p:ext uri="{BB962C8B-B14F-4D97-AF65-F5344CB8AC3E}">
        <p14:creationId xmlns:p14="http://schemas.microsoft.com/office/powerpoint/2010/main" val="39719246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C6EF77-989E-4483-AD3A-D30DB25F00D7}"/>
              </a:ext>
            </a:extLst>
          </p:cNvPr>
          <p:cNvSpPr>
            <a:spLocks noGrp="1"/>
          </p:cNvSpPr>
          <p:nvPr>
            <p:ph type="title"/>
          </p:nvPr>
        </p:nvSpPr>
        <p:spPr>
          <a:xfrm>
            <a:off x="838200" y="0"/>
            <a:ext cx="10515600" cy="6356350"/>
          </a:xfrm>
        </p:spPr>
        <p:txBody>
          <a:bodyPr/>
          <a:lstStyle/>
          <a:p>
            <a:pPr algn="ctr"/>
            <a:r>
              <a:rPr lang="en-IN" dirty="0"/>
              <a:t>Thank You</a:t>
            </a:r>
          </a:p>
        </p:txBody>
      </p:sp>
      <p:sp>
        <p:nvSpPr>
          <p:cNvPr id="5" name="Slide Number Placeholder 4">
            <a:extLst>
              <a:ext uri="{FF2B5EF4-FFF2-40B4-BE49-F238E27FC236}">
                <a16:creationId xmlns:a16="http://schemas.microsoft.com/office/drawing/2014/main" id="{412C94DA-0522-462F-8242-3175A9A37148}"/>
              </a:ext>
            </a:extLst>
          </p:cNvPr>
          <p:cNvSpPr>
            <a:spLocks noGrp="1"/>
          </p:cNvSpPr>
          <p:nvPr>
            <p:ph type="sldNum" sz="quarter" idx="12"/>
          </p:nvPr>
        </p:nvSpPr>
        <p:spPr/>
        <p:txBody>
          <a:bodyPr/>
          <a:lstStyle/>
          <a:p>
            <a:fld id="{34B7E4EF-A1BD-40F4-AB7B-04F084DD991D}" type="slidenum">
              <a:rPr lang="en-US" smtClean="0"/>
              <a:t>18</a:t>
            </a:fld>
            <a:endParaRPr lang="en-US" dirty="0"/>
          </a:p>
        </p:txBody>
      </p:sp>
    </p:spTree>
    <p:extLst>
      <p:ext uri="{BB962C8B-B14F-4D97-AF65-F5344CB8AC3E}">
        <p14:creationId xmlns:p14="http://schemas.microsoft.com/office/powerpoint/2010/main" val="30946492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DB58277-F8DF-46FF-84EC-EF41B835E69F}">
  <ds:schemaRefs>
    <ds:schemaRef ds:uri="http://schemas.microsoft.com/sharepoint/v3/contenttype/forms"/>
  </ds:schemaRefs>
</ds:datastoreItem>
</file>

<file path=customXml/itemProps2.xml><?xml version="1.0" encoding="utf-8"?>
<ds:datastoreItem xmlns:ds="http://schemas.openxmlformats.org/officeDocument/2006/customXml" ds:itemID="{137651BA-F45C-4845-9AB3-E0A65B39F5E1}">
  <ds:schemaRefs>
    <ds:schemaRef ds:uri="http://schemas.microsoft.com/office/2006/metadata/properties"/>
    <ds:schemaRef ds:uri="http://schemas.microsoft.com/office/2006/documentManagement/types"/>
    <ds:schemaRef ds:uri="http://www.w3.org/XML/1998/namespace"/>
    <ds:schemaRef ds:uri="http://schemas.openxmlformats.org/package/2006/metadata/core-properties"/>
    <ds:schemaRef ds:uri="http://purl.org/dc/dcmitype/"/>
    <ds:schemaRef ds:uri="http://schemas.microsoft.com/office/infopath/2007/PartnerControls"/>
    <ds:schemaRef ds:uri="http://purl.org/dc/elements/1.1/"/>
    <ds:schemaRef ds:uri="16c05727-aa75-4e4a-9b5f-8a80a1165891"/>
    <ds:schemaRef ds:uri="71af3243-3dd4-4a8d-8c0d-dd76da1f02a5"/>
    <ds:schemaRef ds:uri="http://purl.org/dc/terms/"/>
  </ds:schemaRefs>
</ds:datastoreItem>
</file>

<file path=customXml/itemProps3.xml><?xml version="1.0" encoding="utf-8"?>
<ds:datastoreItem xmlns:ds="http://schemas.openxmlformats.org/officeDocument/2006/customXml" ds:itemID="{2D276E62-80A3-44DD-9BCC-97ED2B99B57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3017</TotalTime>
  <Words>1930</Words>
  <Application>Microsoft Office PowerPoint</Application>
  <PresentationFormat>Widescreen</PresentationFormat>
  <Paragraphs>214</Paragraphs>
  <Slides>18</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18</vt:i4>
      </vt:variant>
    </vt:vector>
  </HeadingPairs>
  <TitlesOfParts>
    <vt:vector size="27" baseType="lpstr">
      <vt:lpstr>Algerian</vt:lpstr>
      <vt:lpstr>Arial</vt:lpstr>
      <vt:lpstr>Calibri</vt:lpstr>
      <vt:lpstr>Calibri Light</vt:lpstr>
      <vt:lpstr>Cambria</vt:lpstr>
      <vt:lpstr>Comic Sans MS</vt:lpstr>
      <vt:lpstr>Wingdings</vt:lpstr>
      <vt:lpstr>Wingdings 3</vt:lpstr>
      <vt:lpstr>Office Theme</vt:lpstr>
      <vt:lpstr>Sales Forecast Analytics of ABC Manufacturing for 2018-2019</vt:lpstr>
      <vt:lpstr>PowerPoint Presentation</vt:lpstr>
      <vt:lpstr>Background and Purpose</vt:lpstr>
      <vt:lpstr>PowerPoint Presentation</vt:lpstr>
      <vt:lpstr>State wise – Pesticide Sales Analysis</vt:lpstr>
      <vt:lpstr>PowerPoint Presentation</vt:lpstr>
      <vt:lpstr>PowerPoint Presentation</vt:lpstr>
      <vt:lpstr>Other factors – Month consumption details</vt:lpstr>
      <vt:lpstr>PowerPoint Presentation</vt:lpstr>
      <vt:lpstr>Effect of Rainfall on Pesticide Sales</vt:lpstr>
      <vt:lpstr>Crop Cultivation Effect of the Pesticide Sale</vt:lpstr>
      <vt:lpstr>ARIMA Model</vt:lpstr>
      <vt:lpstr>PowerPoint Presentation</vt:lpstr>
      <vt:lpstr>SARIMAX Model</vt:lpstr>
      <vt:lpstr>PowerPoint Presentation</vt:lpstr>
      <vt:lpstr>In Conclusion</vt:lpstr>
      <vt:lpstr>Recommendations for ABC</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Lorem Ipsum</dc:title>
  <dc:creator>Rana Pratap Singh</dc:creator>
  <cp:lastModifiedBy>Mascarenhas, Rodrick Francis</cp:lastModifiedBy>
  <cp:revision>254</cp:revision>
  <dcterms:created xsi:type="dcterms:W3CDTF">2020-11-04T10:20:22Z</dcterms:created>
  <dcterms:modified xsi:type="dcterms:W3CDTF">2021-08-25T20:54:08Z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